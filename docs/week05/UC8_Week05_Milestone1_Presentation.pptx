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77240"/>
            <a:ext cx="1371600" cy="822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1F5F9"/>
                </a:solidFill>
              </a:defRPr>
            </a:pPr>
            <a:r>
              <a:t>UC8: ROBOTIC ARM CONVEYOR PICK-AND-PLACE</a:t>
            </a:r>
          </a:p>
          <a:p>
            <a:pPr>
              <a:defRPr sz="2900" b="1">
                <a:solidFill>
                  <a:srgbClr val="0284C7"/>
                </a:solidFill>
              </a:defRPr>
            </a:pPr>
            <a:r>
              <a:t>WITH OBSTACLE AVOIDANCE</a:t>
            </a:r>
          </a:p>
          <a:p>
            <a:pPr>
              <a:defRPr sz="1700">
                <a:solidFill>
                  <a:srgbClr val="94A3B8"/>
                </a:solidFill>
              </a:defRPr>
            </a:pPr>
            <a:r>
              <a:t>Milestone 1 Official Defense &amp; Technical Evaluation (Week 05)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4747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PROJECT METADATA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1F5F9"/>
                </a:solidFill>
              </a:rPr>
              <a:t>• Course:         </a:t>
            </a:r>
            <a:r>
              <a:rPr sz="1100">
                <a:solidFill>
                  <a:srgbClr val="CBD5E1"/>
                </a:solidFill>
              </a:rPr>
              <a:t>Robotic Project — Vietnamese-German University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1F5F9"/>
                </a:solidFill>
              </a:rPr>
              <a:t>• System:         </a:t>
            </a:r>
            <a:r>
              <a:rPr sz="1100">
                <a:solidFill>
                  <a:srgbClr val="CBD5E1"/>
                </a:solidFill>
              </a:rPr>
              <a:t>UR10e (6-DOF) + 3.6m Conveyor + 2-Finger Claw + 3 Bins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1F5F9"/>
                </a:solidFill>
              </a:rPr>
              <a:t>• Evaluation:     </a:t>
            </a:r>
            <a:r>
              <a:rPr sz="1100">
                <a:solidFill>
                  <a:srgbClr val="CBD5E1"/>
                </a:solidFill>
              </a:rPr>
              <a:t>Milestone 1 Official Defense (Requirements R1 - R4)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1F5F9"/>
                </a:solidFill>
              </a:rPr>
              <a:t>• Next Phase:     </a:t>
            </a:r>
            <a:r>
              <a:rPr sz="1100">
                <a:solidFill>
                  <a:srgbClr val="CBD5E1"/>
                </a:solidFill>
              </a:rPr>
              <a:t>Week 06 Sprint &amp; Milestone 2 (Static Obstacle Avoidance)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F1F5F9"/>
                </a:solidFill>
              </a:rPr>
              <a:t>• Empirical Status: </a:t>
            </a:r>
            <a:r>
              <a:rPr sz="1100">
                <a:solidFill>
                  <a:srgbClr val="CBD5E1"/>
                </a:solidFill>
              </a:rPr>
              <a:t>100% Verified Closed-Loop Sequencer (70/70 Trials OK)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4747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59669"/>
                </a:solidFill>
              </a:defRPr>
            </a:pPr>
            <a:r>
              <a:t>MILESTONE 1 VERIFIED HIGHLIGHTS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59669"/>
                </a:solidFill>
              </a:rPr>
              <a:t>✔ UR10e Motion Streaming: </a:t>
            </a:r>
            <a:r>
              <a:rPr sz="1100">
                <a:solidFill>
                  <a:srgbClr val="CBD5E1"/>
                </a:solidFill>
              </a:rPr>
              <a:t>50 Hz /joint_states driving 6 ArticulationBodies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59669"/>
                </a:solidFill>
              </a:rPr>
              <a:t>✔ Industrial 2-Finger Claw: </a:t>
            </a:r>
            <a:r>
              <a:rPr sz="1100">
                <a:solidFill>
                  <a:srgbClr val="CBD5E1"/>
                </a:solidFill>
              </a:rPr>
              <a:t>Procedural flange mount, status LED, aluminum arms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59669"/>
                </a:solidFill>
              </a:rPr>
              <a:t>✔ Autonomous Sequencer: </a:t>
            </a:r>
            <a:r>
              <a:rPr sz="1100">
                <a:solidFill>
                  <a:srgbClr val="CBD5E1"/>
                </a:solidFill>
              </a:rPr>
              <a:t>7-step closed-loop state machine (zero human input)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59669"/>
                </a:solidFill>
              </a:rPr>
              <a:t>✔ Zero-Teleport Physics: </a:t>
            </a:r>
            <a:r>
              <a:rPr sz="1100">
                <a:solidFill>
                  <a:srgbClr val="CBD5E1"/>
                </a:solidFill>
              </a:rPr>
              <a:t>Pure friction coasting stop halting cubes (±3mm precision)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059669"/>
                </a:solidFill>
              </a:rPr>
              <a:t>✔ Quality Assurance: </a:t>
            </a:r>
            <a:r>
              <a:rPr sz="1100">
                <a:solidFill>
                  <a:srgbClr val="CBD5E1"/>
                </a:solidFill>
              </a:rPr>
              <a:t>70 consecutive trials logged with 100% success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PRESENTATION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Agenda of Milestone 1 Defense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44752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91840"/>
                <a:gridCol w="6339535"/>
              </a:tblGrid>
              <a:tr h="46634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Core Content &amp; Engineering Focus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01-02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Project Title &amp;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Context, requirements, and presentation 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03-04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Baseline Recap &amp; Scope Fulfillment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100% completion of Milestone 1 commitments (R1-R4)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System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Bidirectional closed loop: Unity 2022.3 &lt;-&gt; ROS-TCP &lt;-&gt; ROS Noetic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Feedback &amp; Issue Resolutions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Faculty claw feedback, anti-miss scanner, orthogonal zero-sink grasp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07-08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Workcell Layout &amp; Kinematics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Option 1 bilateral symmetry, 90° wrist lock, pure base SCARA sweep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09-10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PhysX Simulation &amp; State Machine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Friction deceleration, multi-item flow, 7-step sequencer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11-12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Benchmark QA &amp; Technical Defenses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70 empirical trials, 100% success rate, answers to faculty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13-14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Week 06 Objectives &amp; Milestone 2 Roadmap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R5 conveyor robustness, vision classification, static obstacle avoidance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Summary &amp; M1 Acceptance Conclusion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Milestone 1 criteria sign-off and transition to Milestone 2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BASELINE VS 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Week 04 Baseline and Commitments Set Out for Milestone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521208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B48"/>
                </a:solidFill>
              </a:defRPr>
            </a:pPr>
            <a:r>
              <a:t>Baseline Achieved in Week 04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59669"/>
                </a:solidFill>
              </a:rPr>
              <a:t>✔ ROS-Unity bridge: </a:t>
            </a:r>
            <a:r>
              <a:rPr sz="1100">
                <a:solidFill>
                  <a:srgbClr val="1E293B"/>
                </a:solidFill>
              </a:rPr>
              <a:t>TCP communication established on port 10000 via ros_tcp_endpoint.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59669"/>
                </a:solidFill>
              </a:rPr>
              <a:t>✔ Coordinate conversion: </a:t>
            </a:r>
            <a:r>
              <a:rPr sz="1100">
                <a:solidFill>
                  <a:srgbClr val="1E293B"/>
                </a:solidFill>
              </a:rPr>
              <a:t>Unity coordinates mapped to ROS FLU: X_ROS = Z_Unity, Y_ROS = -X_Unity, Z_ROS = Y_Unity.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59669"/>
                </a:solidFill>
              </a:rPr>
              <a:t>✔ Object perception: </a:t>
            </a:r>
            <a:r>
              <a:rPr sz="1100">
                <a:solidFill>
                  <a:srgbClr val="1E293B"/>
                </a:solidFill>
              </a:rPr>
              <a:t>/detected_object_pose (Pose) and /detected_object_type (String) published at 10 Hz.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59669"/>
                </a:solidFill>
              </a:rPr>
              <a:t>✔ MoveIt planning: </a:t>
            </a:r>
            <a:r>
              <a:rPr sz="1100">
                <a:solidFill>
                  <a:srgbClr val="1E293B"/>
                </a:solidFill>
              </a:rPr>
              <a:t>Pre-grasp feasibility verified in RViz (+15cm hover pose above detected cube base).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2"/>
            <a:ext cx="521208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Commitments Set Out for Milestone 1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🎯 Trajectory execution: </a:t>
            </a:r>
            <a:r>
              <a:rPr sz="1100">
                <a:solidFill>
                  <a:srgbClr val="1E293B"/>
                </a:solidFill>
              </a:rPr>
              <a:t>Overcome 'plan-only' barrier; stream real-time joint-states to drive physical UR10e in Unity.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🎯 Grasping mechanism: </a:t>
            </a:r>
            <a:r>
              <a:rPr sz="1100">
                <a:solidFill>
                  <a:srgbClr val="1E293B"/>
                </a:solidFill>
              </a:rPr>
              <a:t>Implement attach/parenting logic linking target cube to tool0 upon arrival.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🎯 Task controller: </a:t>
            </a:r>
            <a:r>
              <a:rPr sz="1100">
                <a:solidFill>
                  <a:srgbClr val="1E293B"/>
                </a:solidFill>
              </a:rPr>
              <a:t>Construct autonomous closed-loop sequencer connecting perception, motion, and release.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🎯 Multi-bin sorting: </a:t>
            </a:r>
            <a:r>
              <a:rPr sz="1100">
                <a:solidFill>
                  <a:srgbClr val="1E293B"/>
                </a:solidFill>
              </a:rPr>
              <a:t>Route red, yellow, and blue cubes to dedicated destination bins without collision.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🎯 Milestone 1 Context: </a:t>
            </a:r>
            <a:r>
              <a:rPr sz="1100">
                <a:solidFill>
                  <a:srgbClr val="1E293B"/>
                </a:solidFill>
              </a:rPr>
              <a:t>Fulfilling 100% of these commitments in Week 04 is the prerequisite for Milestone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EXECUTION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Milestone 1 Scope: 100% Commitment Fulfillment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521208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59669"/>
                </a:solidFill>
              </a:defRPr>
            </a:pPr>
            <a:r>
              <a:t>100% Commitment Fulfillment Status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Trajectory Execution (R2/R3): </a:t>
            </a:r>
            <a:r>
              <a:rPr sz="1100">
                <a:solidFill>
                  <a:srgbClr val="1E293B"/>
                </a:solidFill>
              </a:rPr>
              <a:t>Streamed /joint_states at 50 Hz to 6 ArticulationBodies with zero sagging and smooth tracking (100% DONE).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Grasping Mechanism (R4): </a:t>
            </a:r>
            <a:r>
              <a:rPr sz="1100">
                <a:solidFill>
                  <a:srgbClr val="1E293B"/>
                </a:solidFill>
              </a:rPr>
              <a:t>Implemented industrial Attach/Parenting logic in GripperController.cs with instant latching (100% DONE).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Closed-Loop Sequencer (R4): </a:t>
            </a:r>
            <a:r>
              <a:rPr sz="1100">
                <a:solidFill>
                  <a:srgbClr val="1E293B"/>
                </a:solidFill>
              </a:rPr>
              <a:t>Constructed 7-step autonomous sequencer (task_state_machine.py) with zero human intervention (100% DONE).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3-Bin Sorting System (R4): </a:t>
            </a:r>
            <a:r>
              <a:rPr sz="1100">
                <a:solidFill>
                  <a:srgbClr val="1E293B"/>
                </a:solidFill>
              </a:rPr>
              <a:t>Deployed Red (Left), Yellow (Right), and Blue (Rear) bins with dedicated non-singular trajectories (100% DONE).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2"/>
            <a:ext cx="521208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Milestone 1 High-Value Enhancements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Kinematic Optimization: </a:t>
            </a:r>
            <a:r>
              <a:rPr sz="1100">
                <a:solidFill>
                  <a:srgbClr val="1E293B"/>
                </a:solidFill>
              </a:rPr>
              <a:t>Locked wrist strictly downward (q4 = 90.0°) &amp; implemented pure base SCARA sweep, cutting cycle time by 65%.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Realistic PhysX Deceleration: </a:t>
            </a:r>
            <a:r>
              <a:rPr sz="1100">
                <a:solidFill>
                  <a:srgbClr val="1E293B"/>
                </a:solidFill>
              </a:rPr>
              <a:t>Replaced artificial freezing with pure friction coasting (StopConveyor()) halting cubes at X ≈ 0.00 m (± 3 mm).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Continuous Multi-Item Flow: </a:t>
            </a:r>
            <a:r>
              <a:rPr sz="1100">
                <a:solidFill>
                  <a:srgbClr val="1E293B"/>
                </a:solidFill>
              </a:rPr>
              <a:t>Upgraded Spawner to maintain 2-3 items on conveyor simultaneously with safe 38cm spacing.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Empirical QA Logging: </a:t>
            </a:r>
            <a:r>
              <a:rPr sz="1100">
                <a:solidFill>
                  <a:srgbClr val="1E293B"/>
                </a:solidFill>
              </a:rPr>
              <a:t>Integrated automated CSV logger recording 70 consecutive trials with 100% reliability for Milestone 1 defense.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System Architecture: Bidirectional Communication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44752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62095"/>
                <a:gridCol w="2926080"/>
                <a:gridCol w="2011680"/>
              </a:tblGrid>
              <a:tr h="4963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Key Responsibility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Topic / Protocol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Rate &amp; Direction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Unity Perception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Detects cube, halts conveyor, converts frame to ROS FLU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/detected_object_pose, /detected_object_type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 Hz (Unity -&gt; ROS)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ROS-TCP-Endpoint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Low-latency network bridge brokering serialised ROS messages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TCP Port 10000 Socket Streaming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Real-time (Bidirectional)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State Machine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Closed-loop task logic sequencing 7 execution states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task_state_machine.py orchestrator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Event-driven (ROS Node)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MoveIt Core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Plans collision-free Cartesian paths &amp; joint trajectories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manipulator MoveGroupCommander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MoveIt &lt;-&gt; State Machine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Robot 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Maps joint positions to 6 UR10e ArticulationBodies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/joint_states (JointTrajectoryPoint)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50 Hz (ROS -&gt; Unity)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Gripper Controller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Parenting attach logic; animates fingers and clamps cube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/ur10e/gripper_command, /gripper_status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Event-driven (ROS &lt;-&gt; Unity)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120640"/>
            <a:ext cx="10728655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193792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2B48"/>
                </a:solidFill>
              </a:defRPr>
            </a:pPr>
            <a:r>
              <a:t>CORE INTERFACE SPECIFICATIONS &amp; STANDARDS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Coordinate Mapping: X_ROS = Z_Unity, Y_ROS = -X_Unity, Z_ROS = Y_Unity</a:t>
            </a:r>
            <a:br/>
            <a:r>
              <a:t>• Planning Group: manipulator | Planning Frame: base_link | End Effector: tool0</a:t>
            </a:r>
            <a:br/>
            <a:r>
              <a:t>• Streaming Topics: /detected_object_pose (Pose), /detected_object_type (String), /joint_states @ 50 Hz, /ur10e/gripper_command (Bool)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FEEDBACK &amp; ISSUE RESOLUTIONS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Instructor Feedback and Solving Runtime Engineering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3413455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2B48"/>
                </a:solidFill>
              </a:defRPr>
            </a:pPr>
            <a:r>
              <a:t>Instructor Feedback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Requirement: Visible 2-Finger Claw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Faculty Feedback: </a:t>
            </a:r>
            <a:r>
              <a:rPr sz="1000">
                <a:solidFill>
                  <a:srgbClr val="1E293B"/>
                </a:solidFill>
              </a:rPr>
              <a:t>Instructor requested a visible mechanical gripper claw on the robot rather than an abstract suction/contact point.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Procedural Claw (VisualClaw): </a:t>
            </a:r>
            <a:r>
              <a:rPr sz="1000">
                <a:solidFill>
                  <a:srgbClr val="1E293B"/>
                </a:solidFill>
              </a:rPr>
              <a:t>Designed flange adapter (1.2cm), navy housing chassis (2.0cm), and dual-color status LED (Cyan/Emerald).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Industrial Fingers: </a:t>
            </a:r>
            <a:r>
              <a:rPr sz="1000">
                <a:solidFill>
                  <a:srgbClr val="1E293B"/>
                </a:solidFill>
              </a:rPr>
              <a:t>Aircraft aluminum arms (4.0cm) with high-friction black rubber pads; animated carriage (9.2cm to 6.1cm span).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44752"/>
            <a:ext cx="3413455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D97706"/>
                </a:solidFill>
              </a:defRPr>
            </a:pPr>
            <a:r>
              <a:t>Runtime Issue 1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Challenge: Missed Cubes in Continuous Flow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Observed Bug: </a:t>
            </a:r>
            <a:r>
              <a:rPr sz="1000">
                <a:solidFill>
                  <a:srgbClr val="1E293B"/>
                </a:solidFill>
              </a:rPr>
              <a:t>Over extended runs, cubes occasionally slipped past pick station due to missed trigger collisions.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Root Cause: </a:t>
            </a:r>
            <a:r>
              <a:rPr sz="1000">
                <a:solidFill>
                  <a:srgbClr val="1E293B"/>
                </a:solidFill>
              </a:rPr>
              <a:t>OnTriggerEnter is fragile under continuous multi-item flow and physics frame discretization.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Technical Solution: </a:t>
            </a:r>
            <a:r>
              <a:rPr sz="1000">
                <a:solidFill>
                  <a:srgbClr val="1E293B"/>
                </a:solidFill>
              </a:rPr>
              <a:t>Replaced trigger collisions with continuous active scanning (FindLeadingCubeOnConveyor()) + safety stop latch at X &gt;= -0.015m (100% reliable).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44752"/>
            <a:ext cx="3413455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59669"/>
                </a:solidFill>
              </a:defRPr>
            </a:pPr>
            <a:r>
              <a:t>Runtime Issue 2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Challenge: Conveyor Penetration &amp; Off-Axis Twist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Observed Bug: </a:t>
            </a:r>
            <a:r>
              <a:rPr sz="1000">
                <a:solidFill>
                  <a:srgbClr val="1E293B"/>
                </a:solidFill>
              </a:rPr>
              <a:t>Claw slightly penetrated belt during descent; upon grasping, cube twisted off-axis by 13.6°.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Root Cause: </a:t>
            </a:r>
            <a:r>
              <a:rPr sz="1000">
                <a:solidFill>
                  <a:srgbClr val="1E293B"/>
                </a:solidFill>
              </a:rPr>
              <a:t>Tool orientation was skewed (0.7854 quaternion), and forced position/rotation snapped cube off-axis.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2B48"/>
                </a:solidFill>
              </a:rPr>
              <a:t>• Technical Solution: </a:t>
            </a:r>
            <a:r>
              <a:rPr sz="1000">
                <a:solidFill>
                  <a:srgbClr val="1E293B"/>
                </a:solidFill>
              </a:rPr>
              <a:t>Standardized down_orientation = Quaternion(0.7071, 0.7071, 0, 0), elevated fingertips (+2.3cm clearance), and pure parenting.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LAYOUT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Workcell Layout: Front Pick Zone and Flanking Bins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44752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474720"/>
                <a:gridCol w="5059375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Selected Setup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Engineering Rationale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Conveyor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3.6 m, centered directly in front (X = -0.60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Stable transport through robot workspace; ample gliding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Pick zone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Front center (X = -0.60 m, Y = 0.00 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Symmetric approach minimizing arm travel distance &amp; inertial moments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Red and yellow bins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Left (Y = +0.55 m) and right (Y = -0.55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Clear transfer paths eliminating collision hazards with conveyor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Blue bin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Behind robot (X = +0.50 m, Y = 0.00 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Separates third sorting target via pure base shoulder pan rotation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Support surface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4.0 m × 2.0 m heavy industrial 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Rigid mechanical foundation for rails, bins, and robot fixtures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120640"/>
            <a:ext cx="10728655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193792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2B48"/>
                </a:solidFill>
              </a:defRPr>
            </a:pPr>
            <a:r>
              <a:t>SPATIAL CLEARANCE &amp; SAFETY DIMENSIONS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Bin Mouth Enlargement: Expanded +35% to 0.38 m × 0.38 m × 0.10 m for 100% free-fall capture rate.</a:t>
            </a:r>
            <a:br/>
            <a:r>
              <a:t>• Vertical Safety Envelopes: +16 cm Pre-grasp &amp; Lift altitude completely clears conveyor aluminum rails (Z = +0.10 m) with zero contact.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KINEMATICS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Downward Wrist Orientation and Transfer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521208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B48"/>
                </a:solidFill>
              </a:defRPr>
            </a:pPr>
            <a:r>
              <a:t>Motion Strategy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Downward tool orientation: </a:t>
            </a:r>
            <a:r>
              <a:rPr sz="1100">
                <a:solidFill>
                  <a:srgbClr val="1E293B"/>
                </a:solidFill>
              </a:rPr>
              <a:t>tool0 remains vertical ([0, 0, -1]) during approach, grasp and release via locked wrist (q4 = 90.0°).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Pre-grasp waypoint: </a:t>
            </a:r>
            <a:r>
              <a:rPr sz="1100">
                <a:solidFill>
                  <a:srgbClr val="1E293B"/>
                </a:solidFill>
              </a:rPr>
              <a:t>The robot approaches above the target (+16cm) before descending.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Vertical descent: </a:t>
            </a:r>
            <a:r>
              <a:rPr sz="1100">
                <a:solidFill>
                  <a:srgbClr val="1E293B"/>
                </a:solidFill>
              </a:rPr>
              <a:t>The final approach moves along pure Cartesian Z, avoiding contact with conveyor rails.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Lift before transfer: </a:t>
            </a:r>
            <a:r>
              <a:rPr sz="1100">
                <a:solidFill>
                  <a:srgbClr val="1E293B"/>
                </a:solidFill>
              </a:rPr>
              <a:t>The cube clears the conveyor (+16cm) before base rotation begins.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Dominant shoulder pan: </a:t>
            </a:r>
            <a:r>
              <a:rPr sz="1100">
                <a:solidFill>
                  <a:srgbClr val="1E293B"/>
                </a:solidFill>
              </a:rPr>
              <a:t>The transfer uses a large base rotation while other joints remain stable like a SCARA crane.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2"/>
            <a:ext cx="521208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Joint Values across Poses (Radians)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Standby pose: </a:t>
            </a:r>
            <a:r>
              <a:rPr sz="1100">
                <a:solidFill>
                  <a:srgbClr val="1E293B"/>
                </a:solidFill>
              </a:rPr>
              <a:t>[0.2945, -1.4760, -2.1278, -1.1022, 1.5708, 0.5291]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Red bin (left): </a:t>
            </a:r>
            <a:r>
              <a:rPr sz="1100">
                <a:solidFill>
                  <a:srgbClr val="1E293B"/>
                </a:solidFill>
              </a:rPr>
              <a:t>[-1.0741, -1.4731, -2.2727, -0.9602, 1.5708, 0.5291]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Yellow bin (right): </a:t>
            </a:r>
            <a:r>
              <a:rPr sz="1100">
                <a:solidFill>
                  <a:srgbClr val="1E293B"/>
                </a:solidFill>
              </a:rPr>
              <a:t>[1.7077, -1.4731, -2.2727, -0.9602, 1.5708, 0.5291]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Blue bin (rear): </a:t>
            </a:r>
            <a:r>
              <a:rPr sz="1100">
                <a:solidFill>
                  <a:srgbClr val="1E293B"/>
                </a:solidFill>
              </a:rPr>
              <a:t>[-2.7858, -1.3576, -2.3651, -0.9833, 1.5708, 0.5291]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Kinematic Invariance: </a:t>
            </a:r>
            <a:r>
              <a:rPr sz="1100">
                <a:solidFill>
                  <a:srgbClr val="1E293B"/>
                </a:solidFill>
              </a:rPr>
              <a:t>Shoulder lift, elbow, and wrist joints stay within 0.15 rad across all bins; only shoulder pan swings widely.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PHYSICS AND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Conveyor Motion and Pick-Zone Stopping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521208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59669"/>
                </a:solidFill>
              </a:defRPr>
            </a:pPr>
            <a:r>
              <a:t>Runtime Behaviour &amp; Friction Deceleration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Transport: </a:t>
            </a:r>
            <a:r>
              <a:rPr sz="1100">
                <a:solidFill>
                  <a:srgbClr val="1E293B"/>
                </a:solidFill>
              </a:rPr>
              <a:t>Objects move at configured conveyor speed (rock-steady 0.30 m/s).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Detection: </a:t>
            </a:r>
            <a:r>
              <a:rPr sz="1100">
                <a:solidFill>
                  <a:srgbClr val="1E293B"/>
                </a:solidFill>
              </a:rPr>
              <a:t>Pick-zone sensor actively identifies leading SortableObject cube.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Stop: </a:t>
            </a:r>
            <a:r>
              <a:rPr sz="1100">
                <a:solidFill>
                  <a:srgbClr val="1E293B"/>
                </a:solidFill>
              </a:rPr>
              <a:t>At X &gt;= -0.015 m, conveyor cuts power. Friction halts cube smoothly at X ≈ 0.000 m (± 3 mm).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Zero Teleportation: </a:t>
            </a:r>
            <a:r>
              <a:rPr sz="1100">
                <a:solidFill>
                  <a:srgbClr val="1E293B"/>
                </a:solidFill>
              </a:rPr>
              <a:t>Strictly eliminates artificial coordinate snapping or kinematic freezing.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✔ Resume: </a:t>
            </a:r>
            <a:r>
              <a:rPr sz="1100">
                <a:solidFill>
                  <a:srgbClr val="1E293B"/>
                </a:solidFill>
              </a:rPr>
              <a:t>Conveyor restarts automatically after cube handling and release into bin.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2"/>
            <a:ext cx="521208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Multi-Item Flow &amp; Visual Rig Consistency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Continuous Multi-Item Flow: </a:t>
            </a:r>
            <a:r>
              <a:rPr sz="1100">
                <a:solidFill>
                  <a:srgbClr val="1E293B"/>
                </a:solidFill>
              </a:rPr>
              <a:t>Upgraded Spawner maintains 2-3 active cubes on belt simultaneously, providing continuous sorting.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Anti-Stacking Spacing: </a:t>
            </a:r>
            <a:r>
              <a:rPr sz="1100">
                <a:solidFill>
                  <a:srgbClr val="1E293B"/>
                </a:solidFill>
              </a:rPr>
              <a:t>Strict 38 cm minimum spacing (IsSpawnAreaClear()) prevents any cube collisions at spawn head.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Visual consistency: </a:t>
            </a:r>
            <a:r>
              <a:rPr sz="1100">
                <a:solidFill>
                  <a:srgbClr val="1E293B"/>
                </a:solidFill>
              </a:rPr>
              <a:t>Belt texture scrolling is synchronized 1:1 with physical object motion at 0.30 m/s.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Mechanical Rig Structure: </a:t>
            </a:r>
            <a:r>
              <a:rPr sz="1100">
                <a:solidFill>
                  <a:srgbClr val="1E293B"/>
                </a:solidFill>
              </a:rPr>
              <a:t>Ribbed rubber belt, dual aluminum guide rails, dual chrome rollers, and gearmotor unit.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2B48"/>
                </a:solidFill>
              </a:rPr>
              <a:t>⚙ Optical Sensor LED: </a:t>
            </a:r>
            <a:r>
              <a:rPr sz="1100">
                <a:solidFill>
                  <a:srgbClr val="1E293B"/>
                </a:solidFill>
              </a:rPr>
              <a:t>Dual-color indicator displays Green when running, switching to Red when cube stops at pick center.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AUTOMATION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7-Step Closed-Loop Task State Machine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44752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4327855"/>
                <a:gridCol w="3657600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State Name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Primary Action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Safety &amp; Validation Guard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STANDBY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Arm hovers above pick station (Z = 0.42 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Elbow held elevated; wrist strictly downward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Rapid Cartesian descent to Pre-grasp Pose (+16cm)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Clears conveyor rails in &lt; 0.5s; wait=True feedback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DESCENT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Vertical Cartesian descent to contact (+6.5cm)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Fingertips float 2.3cm above belt (zero sinking)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GRASP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Publish gripper command (True); latch object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Attach logic latches cube; MoveIt updates PlanningScene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LIFT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Linear Cartesian lift back to safe height (+16cm)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10cm vertical lift clears conveyor rails without snagging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MOVE_TO_BIN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Single shoulder pan rotation to destination bin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Non-singular trajectory avoids table collisions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RELEASE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Publish gripper command (False); release cube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Parenting detached; gravity drops cube into bin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READY / REARM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Arm returns to Standby pose over pick zone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Resumes conveyor &amp; triggers spawner for next cycle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Empirical Test Benchmark: 70 Consecutive Trials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44752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3291840"/>
                <a:gridCol w="2499055"/>
              </a:tblGrid>
              <a:tr h="66620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Empirical Measured Result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1F5F9"/>
                          </a:solidFill>
                        </a:defRPr>
                      </a:pPr>
                      <a:r>
                        <a:t>Status Evaluation</a:t>
                      </a:r>
                    </a:p>
                  </a:txBody>
                  <a:tcPr anchor="ctr">
                    <a:solidFill>
                      <a:srgbClr val="0F2B4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Total benchmark trials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&gt;= 10 cycles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70 consecutive cycles logged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Exceeds requirement by 700%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Grasp success rate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&gt;= 90.0%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100.0% (70 / 70 trials)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Perfect reliability; zero drops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Bin sorting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&gt;= 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100.0% (70 / 70 trials)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100% correct bin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Mean cycle time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&lt; 30.0 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11.23 s (Min: 10.8s, Max: 12.1s)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2.7x faster than threshold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Conveyor transport 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0.2 - 0.5 m/s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0.30 m/s rock-steady velocity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Optimal industrial 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Coasting stop deviation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&lt;= 20 mm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+- 3 mm repeatable halt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High physical precision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TECHNICAL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Faculty Committee Engineering Defenses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3413455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2B48"/>
                </a:solidFill>
              </a:defRPr>
            </a:pPr>
            <a:r>
              <a:t>Why are Pre-grasp and Lift poses necessary?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Industrial workcells divide workspace into Free-space transit and Fine Cartesian approach.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Pre-grasp (+16cm) establishes a collision-free holding waypoint above the moving conveyor.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Moving directly on diagonal paths risks collision with conveyor rails or bin edges.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44752"/>
            <a:ext cx="3413455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2B48"/>
                </a:solidFill>
              </a:defRPr>
            </a:pPr>
            <a:r>
              <a:t>Why avoid fixed sleep delays for motion timing?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Motion time varies with distance (1.07 rad to Red bin vs 2.78 rad to Blue bin).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Fixed sleep delays cause premature grasp triggers (dropped objects) or unnecessary idle time.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MoveIt trajectory execution feedback (wait=True) confirms physical arrival before next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44752"/>
            <a:ext cx="3413455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2B48"/>
                </a:solidFill>
              </a:defRPr>
            </a:pPr>
            <a:r>
              <a:t>How were ragdoll sagging &amp; oscillations eliminated?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1. base_link locked with immovable = true in ArticulationBody.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2. Gravity disabled (useGravity = false) on arm links; gravity compensation handled by MoveIt dynamics.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3. Tuned high PhysX drive stiffness (stiffness = 50000, damping = 1000, forceLimit = 10000).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WEEK 06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Week 06 Sprint: Fulfilling Requirement R5 &amp;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3413455" cy="374903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47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B48"/>
                </a:solidFill>
              </a:defRPr>
            </a:pPr>
            <a:r>
              <a:t>R5 Conveyor Robustness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5-Minute Continuous Operation: Validate that conveyor, spawner, and sensor run non-stop without jamming.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Variable Velocity Modulation: Support dynamic speed adjustment (0.1 to 0.5 m/s) via ROS parameter service.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PhysX Friction Stability: Eliminate micro-slip across diverse cube weights (0.1kg - 0.5kg).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44752"/>
            <a:ext cx="3413455" cy="374903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47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Deterministic Spawner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PRNG Seed Reproducibility: Implement seed parameters for RandomObjectSpawner.cs.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Guaranteed Test Batches: Allow exact sequence replay (e.g. Red -&gt; Blue -&gt; Yellow) for automated regression.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Spacing Latch Verification: Guarantee 38cm spacing under all belt acceleration profiles.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44752"/>
            <a:ext cx="3413455" cy="374903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47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59669"/>
                </a:solidFill>
              </a:defRPr>
            </a:pPr>
            <a:r>
              <a:t>Fault Recovery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Belt Jam Auto-Recovery: Automated reverse-and-clear logic if an unexpected stall occurs.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Perception Timeout Guard: Fail-safe state machine rollback if object detection frame drops.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Socket Watchdog: Auto-reconnect handling for ROS-TCP-Endpoint in case of network hiccups.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21808"/>
            <a:ext cx="10728655" cy="868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394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F2B48"/>
                </a:solidFill>
              </a:defRPr>
            </a:pPr>
            <a:r>
              <a:t>WEEK 06 DEFINITION OF DONE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Complete fulfillment of Requirement R5 (Conveyor &amp; Spawner Integration).</a:t>
            </a:r>
            <a:br/>
            <a:r>
              <a:t>• The workcell runs hands-free for &gt; 5 minutes with zero cube miss, zero jam, and deterministic regression logging.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MILESTONE 2 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Milestone 2 (Week 10): Static Obstacle Avoidance &amp; Perception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3413455" cy="374903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47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B48"/>
                </a:solidFill>
              </a:defRPr>
            </a:pPr>
            <a:r>
              <a:t>R5 &amp; R6: Conveyor &amp; Vision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R5 (Continuous Conveyor): Industrial belt running continuous multi-item queues with zero jam.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R6 (Computer Vision Pipeline): Camera perception module replacing metadata detection.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Color Classifier: OpenCV HSV segmentation classifying Red, Blue, and Yellow cubes under varying lighting.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44752"/>
            <a:ext cx="3413455" cy="374903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47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R7: 3D Localization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Camera-to-Robot Calibration: Hand-eye calibration linking camera pixel coordinates to UR10e base_link.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Centroid Extraction: Projecting bounding box centroids to 3D Cartesian coordinates.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Localization Accuracy: Benchmarked measurement error &lt;= 20mm compared to ground truth.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44752"/>
            <a:ext cx="3413455" cy="374903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47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</a:defRPr>
            </a:pPr>
            <a:r>
              <a:t>R8: Static Obstacle Avoidance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Static Wall Barrier: Introducing physical obstacle wall between pick station and sorting bins.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MoveIt PlanningScene: Real-time obstacle representation in collision matrix.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Collision-Free Detour: OMPL planner automatically computes curved bypass paths around the wall.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21808"/>
            <a:ext cx="10728655" cy="868680"/>
          </a:xfrm>
          <a:prstGeom prst="round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394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F2B48"/>
                </a:solidFill>
              </a:defRPr>
            </a:pPr>
            <a:r>
              <a:t>MILESTONE 2 (WEEK 10) ACCEPTANCE CRITERIA: STOP-AND-PICK MODE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Verification of Requirements R5, R6, R7, and R8 in Stop-and-Pick mode (conveyor stops before grasp).</a:t>
            </a:r>
            <a:br/>
            <a:r>
              <a:t>• Arm successfully navigates around static obstacle barrier with zero collision across &gt;= 20 benchmark trials.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MILESTONE 1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2B48"/>
                </a:solidFill>
              </a:defRPr>
            </a:pPr>
            <a:r>
              <a:t>Summary of Deliverables &amp; Official Acceptance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43584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UC8 Robotic Sorting Workcell | Milestone 1 Defense | Vietnamese-German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364224"/>
            <a:ext cx="2103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</a:defRPr>
            </a:pPr>
            <a:r>
              <a:t>Slide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3413455" cy="3520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4769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59669"/>
                </a:solidFill>
              </a:defRPr>
            </a:pPr>
            <a:r>
              <a:t>Requirements Met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R1 (Architecture &amp; Scope): 100% Approved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R2 (UR10e MoveIt Planning): 100% Operational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R3 (ROS-Unity Bridge): 100% Low-Latency Streaming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R4 (Closed-Loop Pick &amp; Place): 100% Autonomous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44752"/>
            <a:ext cx="3413455" cy="3520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04769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B48"/>
                </a:solidFill>
              </a:defRPr>
            </a:pPr>
            <a:r>
              <a:t>Empirical Evidence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70 Consecutive Trials Logged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100.0% Grasp Success Rate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100.0% Multi-Bin Placement Rate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11.23s Mean Cycle Time (2.7x faster)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44752"/>
            <a:ext cx="3413455" cy="3520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04769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Deliverables Package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Git Tag Release: m1-verified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Complete trials.csv QA Evidence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Clean run_workcell.sh Launcher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Multi-Camera Demo Visuals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105156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93792"/>
            <a:ext cx="10241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59669"/>
                </a:solidFill>
              </a:defRPr>
            </a:pPr>
            <a:r>
              <a:t>FORMAL MILESTONE 1 ACCEPTANCE REQUEST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All commitments made for Milestone 1 have been 100% fulfilled and reinforced with faculty feedback solutions.</a:t>
            </a:r>
            <a:br/>
            <a:r>
              <a:t>• The UC8 sorting workcell is fully verified and ready for formal Milestone 1 sign-off and progression to Week 06 / Milestone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