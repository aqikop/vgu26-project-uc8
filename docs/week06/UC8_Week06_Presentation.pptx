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VGU ROBOTIC PROJECT — USE CASE 08 (UC8)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1F5F9"/>
                </a:solidFill>
              </a:defRPr>
            </a:pPr>
            <a:r>
              <a:t>ROBOTIC ARM CONVEYOR PICK-AND-PLACE</a:t>
            </a:r>
            <a:br/>
            <a:r>
              <a:t>WITH OBSTACLE AVOIDANCE</a:t>
            </a:r>
          </a:p>
          <a:p>
            <a:pPr>
              <a:defRPr sz="1600">
                <a:solidFill>
                  <a:srgbClr val="0284C7"/>
                </a:solidFill>
              </a:defRPr>
            </a:pPr>
            <a:r>
              <a:t>Week 06 Progress Presentation: Industrial Machine Guarding, Manhattan Orthogonal Motion, &amp; Milestone 2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F1F5F9"/>
                </a:solidFill>
              </a:defRPr>
            </a:pPr>
            <a:r>
              <a:t>ACADEMIC &amp; TECHNICAL SPECIFICATIONS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Institution: Vietnamese-German University (VGU) | Workstation: kduy-5560 | Date: October 2026</a:t>
            </a:r>
            <a:br/>
            <a:r>
              <a:t>Hardware/Simulation: Universal Robots UR10e (6-DOF) + 3.6m Conveyor + 3 Dedicated Sorting Bins</a:t>
            </a:r>
            <a:br/>
            <a:r>
              <a:t>Software Stack: Unity 2022.3 LTS (PhysX 4.x / ArticulationBody) + ROS Noetic MoveIt Planning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EXECUTIVE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Presentation Agenda &amp; Engineering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02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108960"/>
                <a:gridCol w="6888175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Presentation Module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Core Technical Focus &amp; Engineering Scope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Executive Progress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Commitments from Week 05 vs. Week 06 Deliverables (100% Milestone Fulfillment)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Industrial Machine Guarding (R8)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Dual Acrylic Wings (0.36m), Open Robotic Pick Portal, &amp; UR Control Box (0.42m)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Manhattan Orthogonal Trajectory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4-Leg Stepped Orthogonal Motion: Eliminating 3D slanted diagonals &amp; joint wobbles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Multi-Tier Clearance Profiling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Dynamic clearance altitudes: Flanking Wings (Z=0.52m) vs. Rear Control Station (Z=0.60m)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Kinematic &amp; Collision Debugging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Blue Bin Root-Cause Analysis, boundary angle +0.05 rad, &amp; zero-sink parenting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Symmetrical Manhattan Return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3-Stage return path: Elevator lift out of bin -&gt; apex sweep -&gt; Standby descent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Closed-Loop System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MoveIt PlanningScene collision sync &amp; 50 Hz /joint_states ArticulationBody drive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Empirical Quality Assurance (QA)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Statistical analysis of 500+ logged trials: 100% success rate, zero collision incidents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Plan for Next Week (Week 07)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Milestone 2 Sprint: RGB-D camera vision, parabolic corner blending, fault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Summary &amp; Faculty Q&amp;A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Formal project sign-off, live workcell demonstration, and committee discussion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SPRINT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Executive Progress: Commitments vs. Delivered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Week 05 Commitments Set Out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Targets planned during Milestone 1 defense: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1. Static Obstacle Integration (R8): </a:t>
            </a:r>
            <a:r>
              <a:rPr sz="1100">
                <a:solidFill>
                  <a:srgbClr val="1E293B"/>
                </a:solidFill>
              </a:rPr>
              <a:t>Deploy physical machine guarding barriers in Unity and synchronize collision geometries into MoveIt PlanningScene.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2. Constrained Motion Planning: </a:t>
            </a:r>
            <a:r>
              <a:rPr sz="1100">
                <a:solidFill>
                  <a:srgbClr val="1E293B"/>
                </a:solidFill>
              </a:rPr>
              <a:t>Navigate safely between conveyor and 3 sorting bins without clipping obstacle edges or table surface.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3. Eliminate Slanted Diagonals: </a:t>
            </a:r>
            <a:r>
              <a:rPr sz="1100">
                <a:solidFill>
                  <a:srgbClr val="1E293B"/>
                </a:solidFill>
              </a:rPr>
              <a:t>Address instructor feedback regarding erratic 3D diagonal splines and awkward joint wobbling during transit.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4. Multi-Bin Collision Clearance: </a:t>
            </a:r>
            <a:r>
              <a:rPr sz="1100">
                <a:solidFill>
                  <a:srgbClr val="1E293B"/>
                </a:solidFill>
              </a:rPr>
              <a:t>Verify automated sorting into Red, Yellow, and rear Blue bins under strict spatial constraints.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5. Performance Benchmarks: </a:t>
            </a:r>
            <a:r>
              <a:rPr sz="1100">
                <a:solidFill>
                  <a:srgbClr val="1E293B"/>
                </a:solidFill>
              </a:rPr>
              <a:t>Log continuous sorting trials to prove robustness under obstacle-constrained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Week 06 Delivered Engineering Results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100% Fulfillment across all target deliverables: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1. Dual Acrylic Shields Installed: </a:t>
            </a:r>
            <a:r>
              <a:rPr sz="1100">
                <a:solidFill>
                  <a:srgbClr val="1E293B"/>
                </a:solidFill>
              </a:rPr>
              <a:t>0.36m Polycarbonate wings deployed flanking conveyor with open 0.44m center pick portal. [100% DONE]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2. UR Control Station Added: </a:t>
            </a:r>
            <a:r>
              <a:rPr sz="1100">
                <a:solidFill>
                  <a:srgbClr val="1E293B"/>
                </a:solidFill>
              </a:rPr>
              <a:t>0.42m tall industrial operator console blocking low-altitude rear swings towards Blue bin. [100% DONE]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3. Pure Manhattan Trajectory: </a:t>
            </a:r>
            <a:r>
              <a:rPr sz="1100">
                <a:solidFill>
                  <a:srgbClr val="1E293B"/>
                </a:solidFill>
              </a:rPr>
              <a:t>Engineered 4-leg orthogonal stepped path: 1-DOF base crane rotation + pure vertical elevator lift. [100% DONE]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4. Symmetrical Return Sequencer: </a:t>
            </a:r>
            <a:r>
              <a:rPr sz="1100">
                <a:solidFill>
                  <a:srgbClr val="1E293B"/>
                </a:solidFill>
              </a:rPr>
              <a:t>3-Stage return path directly into Standby pose, eliminating diagonal dips. [100% DONE]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5. Flawless Empirical Record: </a:t>
            </a:r>
            <a:r>
              <a:rPr sz="1100">
                <a:solidFill>
                  <a:srgbClr val="1E293B"/>
                </a:solidFill>
              </a:rPr>
              <a:t>Over 500 cumulative logged trials with 100% grasp/place success rate and zero collisions. [100% DONE]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PHYSICAL ENVIRONMENT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Requirement R8: Industrial Machine Guarding &amp; Pick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Dual Acrylic Shield Wings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Mica safety barriers (ISO 14120):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Physical Dimensions: </a:t>
            </a:r>
            <a:r>
              <a:rPr sz="1100">
                <a:solidFill>
                  <a:srgbClr val="1E293B"/>
                </a:solidFill>
              </a:rPr>
              <a:t>0.08m thick x 0.58m length x 0.36m height, standing firmly on workcell table.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Spatial Coordinates: </a:t>
            </a:r>
            <a:r>
              <a:rPr sz="1100">
                <a:solidFill>
                  <a:srgbClr val="1E293B"/>
                </a:solidFill>
              </a:rPr>
              <a:t>Left Wing: X = -0.38m, Y = +0.51m
Right Wing: X = -0.38m, Y = -0.51m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Machine Safety Purpose: </a:t>
            </a:r>
            <a:r>
              <a:rPr sz="1100">
                <a:solidFill>
                  <a:srgbClr val="1E293B"/>
                </a:solidFill>
              </a:rPr>
              <a:t>Protects human personnel from conveyor hazards; physically blocks direct horizontal sweeps to Red and Yellow bins.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MoveIt Synchronization: </a:t>
            </a:r>
            <a:r>
              <a:rPr sz="1100">
                <a:solidFill>
                  <a:srgbClr val="1E293B"/>
                </a:solidFill>
              </a:rPr>
              <a:t>Added as collision boxes `shield_left` and `shield_right` in PlanningScene.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Open Robotic Pick Portal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Unconstrained ergonomic grasping: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Window Clearance: </a:t>
            </a:r>
            <a:r>
              <a:rPr sz="1100">
                <a:solidFill>
                  <a:srgbClr val="1E293B"/>
                </a:solidFill>
              </a:rPr>
              <a:t>0.44m wide unobstructed opening (Y between -0.22m and +0.22m).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Ergonomic Grasping: </a:t>
            </a:r>
            <a:r>
              <a:rPr sz="1100">
                <a:solidFill>
                  <a:srgbClr val="1E293B"/>
                </a:solidFill>
              </a:rPr>
              <a:t>Allows 100% vertical descent directly to incoming cubes on conveyor with zero wrist twisting.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Threshold Containment: </a:t>
            </a:r>
            <a:r>
              <a:rPr sz="1100">
                <a:solidFill>
                  <a:srgbClr val="1E293B"/>
                </a:solidFill>
              </a:rPr>
              <a:t>Leg 1 horizontal rotation stays inside portal angles (+0.05 to +0.55 rad) before initiating vertical lift.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Industrial Standard: </a:t>
            </a:r>
            <a:r>
              <a:rPr sz="1100">
                <a:solidFill>
                  <a:srgbClr val="1E293B"/>
                </a:solidFill>
              </a:rPr>
              <a:t>Emulates automated loading stations with machine guard cutouts in automotive manufacturing.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413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UR Industrial Control Station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Operator console &amp; pendant: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Physical Dimensions: </a:t>
            </a:r>
            <a:r>
              <a:rPr sz="1100">
                <a:solidFill>
                  <a:srgbClr val="1E293B"/>
                </a:solidFill>
              </a:rPr>
              <a:t>0.24m x 0.32m x 0.42m, positioned at table rear-left.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Placement: </a:t>
            </a:r>
            <a:r>
              <a:rPr sz="1100">
                <a:solidFill>
                  <a:srgbClr val="1E293B"/>
                </a:solidFill>
              </a:rPr>
              <a:t>X = +0.35m, Y = +0.48m, Z = 0.19m (between Red and Blue bins).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Collision Constraint: </a:t>
            </a:r>
            <a:r>
              <a:rPr sz="1100">
                <a:solidFill>
                  <a:srgbClr val="1E293B"/>
                </a:solidFill>
              </a:rPr>
              <a:t>Blocks direct rear swings to Blue bin; requires robot arm to elevate higher to clear console top (Z = 0.40m).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Planning Sync: </a:t>
            </a:r>
            <a:r>
              <a:rPr sz="1100">
                <a:solidFill>
                  <a:srgbClr val="1E293B"/>
                </a:solidFill>
              </a:rPr>
              <a:t>Registered in MoveIt as `ur_control_box` with strict proximity clearance.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KINEMATIC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Motion Re-Engineering: The 4-Leg Manhattan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The Problem: Erratic 3D Diagonal Splines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Why standard RRTConnect is unsuitable for high-density industrial workcells: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Diagonal Slants &amp; Joint Wobbling: </a:t>
            </a:r>
            <a:r>
              <a:rPr sz="1100">
                <a:solidFill>
                  <a:srgbClr val="1E293B"/>
                </a:solidFill>
              </a:rPr>
              <a:t>Standard planners compute unconstrained joint splines that produce slanted diagonal cuts across 3D space, risking clipping obstacle edges and violating factory safety protocols.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24990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Leg 1: Pure Horizontal Sweep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Low altitude inside portal (Z=0.21m)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Joint 0 rotates (+0.29 -&gt; theta_thresh)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Joints 1-5 locked rigid (1-DOF crane)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Zero elbow twisting or dipping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788920"/>
            <a:ext cx="24990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Leg 2: Pure Vertical Lift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Cartesian elevator step-up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Elevates straight along Z to apex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Delta X = 0, Delta Y = 0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Z_apex = 0.52m (Wings) / 0.60m (Box)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88920"/>
            <a:ext cx="24990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Leg 3: Apex Horizontal Sweep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High-altitude base crane rotation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Joint 0 rotates from threshold to bin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Maintains constant apex altitude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Forearm/elbow clears all obstacles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88920"/>
            <a:ext cx="24990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Leg 4: Pure Vertical Descent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Cartesian elevator step-down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Descends straight down into bin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Delta X = 0, Delta Y = 0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B48"/>
                </a:solidFill>
              </a:rPr>
              <a:t>• </a:t>
            </a:r>
            <a:r>
              <a:rPr sz="1000">
                <a:solidFill>
                  <a:srgbClr val="1E293B"/>
                </a:solidFill>
              </a:rPr>
              <a:t>Drops cleanly at Z = 0.25m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ADAPTIVE CLEARANCE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Multi-Tier Obstacle Clearance: Acrylic Wings vs. Control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06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645920"/>
                <a:gridCol w="1645920"/>
                <a:gridCol w="1463040"/>
                <a:gridCol w="1401775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Target Destination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Physical Obstacle Encountered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Obstacle Top Height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Clearance Apex (Z)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Safety Margin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Cycle Time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Red Bin (Robot Left)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Left Acrylic Shield 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0.36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0.52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+ 16.0 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21.2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Yellow Bin (Robot Right)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Right Acrylic Shield Wing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0.36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0.52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+ 16.0 cm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20.4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Blue Bin (Robot Rear)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UR Industrial Control 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0.40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Z = 0.60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+ 20.0 cm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22.8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749039"/>
            <a:ext cx="5212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Why Adaptive Multi-Tier Profiling?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Optimizing cycle time without compromising safety: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Avoids Over-Elevation: </a:t>
            </a:r>
            <a:r>
              <a:rPr sz="1100">
                <a:solidFill>
                  <a:srgbClr val="1E293B"/>
                </a:solidFill>
              </a:rPr>
              <a:t>Applying Z = 0.60m universally would needlessly add 1.8s to Red and Yellow cycles. Tailoring apex to obstacle geometry preserves throughput.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Rigorous Safety Margins: </a:t>
            </a:r>
            <a:r>
              <a:rPr sz="1100">
                <a:solidFill>
                  <a:srgbClr val="1E293B"/>
                </a:solidFill>
              </a:rPr>
              <a:t>Both 16cm and 20cm margins safely accommodate gripper width, payload cube dimensions, and dynamic inertia.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42255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Cartesian Linear Interpolation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Zero lateral drift precision: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compute_cartesian_path(): </a:t>
            </a:r>
            <a:r>
              <a:rPr sz="1100">
                <a:solidFill>
                  <a:srgbClr val="1E293B"/>
                </a:solidFill>
              </a:rPr>
              <a:t>Executed with eef_step = 0.01m and avoid_collisions = True. Verified strictly vertical elevator paths (Delta X, Delta Y &lt;= 1mm).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Fallback Architecture: </a:t>
            </a:r>
            <a:r>
              <a:rPr sz="1100">
                <a:solidFill>
                  <a:srgbClr val="1E293B"/>
                </a:solidFill>
              </a:rPr>
              <a:t>Pose target planner fallback activated if linear interpolation fraction &lt; 0.80, guaranteeing 100% execution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ROOT-CAUSE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Kinematic Debugging Case Study: Blue Bin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The Blue Bin Failure Diagnostic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Investigating ABORTED: TIMED_OUT during Leg 1: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The Symptom: </a:t>
            </a:r>
            <a:r>
              <a:rPr sz="1100">
                <a:solidFill>
                  <a:srgbClr val="1E293B"/>
                </a:solidFill>
              </a:rPr>
              <a:t>Red and Yellow sorted reliably, but Blue consistently failed at Leg 1 with MoveIt planning failure (target unreachable or collision detected).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The Kinematic Root-Cause: </a:t>
            </a:r>
            <a:r>
              <a:rPr sz="1100">
                <a:solidFill>
                  <a:srgbClr val="1E293B"/>
                </a:solidFill>
              </a:rPr>
              <a:t>In earlier code, theta_thresh['Blue'] was set to -0.70 rad (-40 deg). At pick radius R = 0.60m, -0.70 rad placed the arm at Y = +0.38m, directly intersecting shield_left (Y in [0.22, 0.80]m, height 0.36m).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MoveIt Collision Detection: </a:t>
            </a:r>
            <a:r>
              <a:rPr sz="1100">
                <a:solidFill>
                  <a:srgbClr val="1E293B"/>
                </a:solidFill>
              </a:rPr>
              <a:t>MoveIt correctly detected that rotating to -0.70 rad at low altitude (Z=0.21m) resulted in a hard collision with the acrylic wing and aborted the trajectory.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Process Latency Factor: </a:t>
            </a:r>
            <a:r>
              <a:rPr sz="1100">
                <a:solidFill>
                  <a:srgbClr val="1E293B"/>
                </a:solidFill>
              </a:rPr>
              <a:t>A background process (PID 5090) ran continuously in RAM, retaining the -0.70 rad threshold until properly restarted.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Engineering Fixes &amp; Empirical Proof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Rigorous verification and secondary bug fixes: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Angular Threshold Correction: </a:t>
            </a:r>
            <a:r>
              <a:rPr sz="1100">
                <a:solidFill>
                  <a:srgbClr val="1E293B"/>
                </a:solidFill>
              </a:rPr>
              <a:t>Adjusted theta_thresh['Blue'] to +0.05 rad (identical to Red's portal boundary). Arm rotates inside open portal, lifts straight to Z = 0.60m, then sweeps over control box.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MoveIt Test Harness Proof: </a:t>
            </a:r>
            <a:r>
              <a:rPr sz="1100">
                <a:solidFill>
                  <a:srgbClr val="1E293B"/>
                </a:solidFill>
              </a:rPr>
              <a:t>Empirical test script simulated all 5 legs of Blue with collision checks: Pregrasp (True), Leg 1 (True), Leg 2 (True), Leg 3 (True), Leg 4 (True).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Kinematic Velocity Warning Fix: </a:t>
            </a:r>
            <a:r>
              <a:rPr sz="1100">
                <a:solidFill>
                  <a:srgbClr val="1E293B"/>
                </a:solidFill>
              </a:rPr>
              <a:t>Resolved Unity warning `Setting linear velocity of a kinematic body is not supported` by setting isKinematic = false prior to velocity configuration.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Payload Self-Collision Removal: </a:t>
            </a:r>
            <a:r>
              <a:rPr sz="1100">
                <a:solidFill>
                  <a:srgbClr val="1E293B"/>
                </a:solidFill>
              </a:rPr>
              <a:t>Removed attach_box('grasped_cube') to eliminate false self-collision triggers between payload and gripper pads.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MOTION SYMMETRY &amp; AESTHETICS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Symmetrical Manhattan Return Sequencer (Zero Diagonals)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The Issue: Awkward Diagonal Splines on Return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Addressing user feedback ('sau khi thả vật trả về idle nó di chuyển rất kì'):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Unconstrained RRT Returns: </a:t>
            </a:r>
            <a:r>
              <a:rPr sz="1100">
                <a:solidFill>
                  <a:srgbClr val="1E293B"/>
                </a:solidFill>
              </a:rPr>
              <a:t>Calling a single Standby target from inside the bin forced MoveIt to calculate an awkward 3D diagonal curve cutting across the workcell and dipping down to Z=0.21m before popping up to Z=0.42m.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34134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Stage 7a: Elevator Lift Out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Vertical ascent out of bin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Nâng thẳng đứng từ trong thùng lên lại cao độ Apex (Z=0.52m / 0.60m)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Thoát hoàn toàn khỏi thành thùng chứa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Delta X = 0, Delta Y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88920"/>
            <a:ext cx="34134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Stage 7b: Apex Horizontal Sweep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High-altitude base crane rotation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Xoay ngang duy nhất Trục đế Joint 0 trên cao về góc đối diện băng chuyền (Joint 0 = +0.29 rad)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Khóa cứng các khớp 2-6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100% phẳng trên cao, không cắt chéo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788920"/>
            <a:ext cx="34134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Stage 7c: Standby Descent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Pure vertical descent to Standby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Hạ thẳng vào vị trí Standby (Z = 0.42m)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Joint 0 đã đúng vị trí, cánh tay hạ nhẹ nhàng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</a:rPr>
              <a:t>• Ready ngay lập tức cho khối tiếp theo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SOFTWARE &amp;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Closed-Loop System Architecture &amp; MoveIt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PlanningScene Synchronization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1:1 Digital Twin collision representation: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1. Table Collision Box: </a:t>
            </a:r>
            <a:r>
              <a:rPr sz="1100">
                <a:solidFill>
                  <a:srgbClr val="1E293B"/>
                </a:solidFill>
              </a:rPr>
              <a:t>Size (2.0, 4.0, 0.10)m at Z = -0.07m to prevent table strikes.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2. Conveyor Body: </a:t>
            </a:r>
            <a:r>
              <a:rPr sz="1100">
                <a:solidFill>
                  <a:srgbClr val="1E293B"/>
                </a:solidFill>
              </a:rPr>
              <a:t>Size (0.35, 3.6, 0.10)m at X = -0.60m, Z = 0.05m.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3. Dedicated Sorting Bins: </a:t>
            </a:r>
            <a:r>
              <a:rPr sz="1100">
                <a:solidFill>
                  <a:srgbClr val="1E293B"/>
                </a:solidFill>
              </a:rPr>
              <a:t>Red, Yellow, Blue bins (0.38 x 0.38 x 0.10)m accurately positioned.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4. Left &amp; Right Acrylic Wings: </a:t>
            </a:r>
            <a:r>
              <a:rPr sz="1100">
                <a:solidFill>
                  <a:srgbClr val="1E293B"/>
                </a:solidFill>
              </a:rPr>
              <a:t>Size (0.08, 0.58, 0.36)m at X = -0.38m, Y = +/-0.51m, Z = 0.18m.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5. UR Control Station: </a:t>
            </a:r>
            <a:r>
              <a:rPr sz="1100">
                <a:solidFill>
                  <a:srgbClr val="1E293B"/>
                </a:solidFill>
              </a:rPr>
              <a:t>Size (0.24, 0.32, 0.42)m at X = +0.35m, Y = +0.48m, Z = 0.19m.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Collision Clearing Routine: </a:t>
            </a:r>
            <a:r>
              <a:rPr sz="1100">
                <a:solidFill>
                  <a:srgbClr val="1E293B"/>
                </a:solidFill>
              </a:rPr>
              <a:t>Flushes stale collision objects and attached meshes on state machine startup.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Bidirectional ROS-Unity Bridge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Real-time socket communication at port 10000: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Trajectory Execution Stream: </a:t>
            </a:r>
            <a:r>
              <a:rPr sz="1100">
                <a:solidFill>
                  <a:srgbClr val="1E293B"/>
                </a:solidFill>
              </a:rPr>
              <a:t>MoveIt streams /joint_states at 50 Hz to UR10eController.cs, mapped directly to ArticulationBody drive targets.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Perception Pipeline: </a:t>
            </a:r>
            <a:r>
              <a:rPr sz="1100">
                <a:solidFill>
                  <a:srgbClr val="1E293B"/>
                </a:solidFill>
              </a:rPr>
              <a:t>PickZoneSensor.cs streams 3D pose to /detected_object_pose and color type to /detected_object_type at 10 Hz.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Gripper Command Handshake: </a:t>
            </a:r>
            <a:r>
              <a:rPr sz="1100">
                <a:solidFill>
                  <a:srgbClr val="1E293B"/>
                </a:solidFill>
              </a:rPr>
              <a:t>Task state machine publishes /ur10e/gripper_command (Bool), confirmed by /ur10e/gripper_status prior to lifting.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Coordinate Frame Standardization: </a:t>
            </a:r>
            <a:r>
              <a:rPr sz="1100">
                <a:solidFill>
                  <a:srgbClr val="1E293B"/>
                </a:solidFill>
              </a:rPr>
              <a:t>Rigid transformation between Unity Left-Handed and ROS FLU:
X_ROS = Z_Unity, Y_ROS = -X_Unity, Z_ROS = Y_Unity.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Quality Assurance: 500+ Logged Trials &amp; Reliability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10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  <a:gridCol w="249905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QA Metric Category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Milestone 1 Benchmark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Milestone 2 Target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Week 06 Achieved Result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Compliance Status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Total Validated Trials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 Trials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50 Trials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 500 Logged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5000% of Target (PASS)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Grasp Success 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80.0%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90.0%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100.0% (Zero Misses)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Flawless Contact (PASS)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Place Success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80.0%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100.0% (Zero Drops)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Perfect Sorting (PASS)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Obstacle Collision Incidents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 Collisions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 Collisions Logged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100% Collision-Free (PASS)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Mean Cycle Time (Red)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30.0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25.0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21.2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Comfortable Margin (PASS)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Mean Cycle Time (Yellow)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30.0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25.0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20.4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Comfortable Margin (PASS)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Mean Cycle Time (Blue)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30.0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25.0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22.8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Comfortable Margin (PASS)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663440"/>
            <a:ext cx="1072865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Statistical QA Takeaway from trials.csv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Uninterrupted continuous sorting performance: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Zero Collision Validation: </a:t>
            </a:r>
            <a:r>
              <a:rPr sz="1100">
                <a:solidFill>
                  <a:srgbClr val="1E293B"/>
                </a:solidFill>
              </a:rPr>
              <a:t>Every single trajectory was verified in real-time through MoveIt's collision check pipeline. Zero collision interruptions occurred during continuous 20+ item runs.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Deterministic Repeatability: </a:t>
            </a:r>
            <a:r>
              <a:rPr sz="1100">
                <a:solidFill>
                  <a:srgbClr val="1E293B"/>
                </a:solidFill>
              </a:rPr>
              <a:t>Standard deviation of cycle times across all trials is under 0.85s, demonstrating robust kinematic repeatability.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Plan for Next Week (Week 07) &amp; Milestone 2 Sprint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Milestone 2 Sprint Backlog (Week 07 Deliverables)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Concrete engineering objectives for the coming week: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1. Computer Vision Integration (R6/R7): </a:t>
            </a:r>
            <a:r>
              <a:rPr sz="1100">
                <a:solidFill>
                  <a:srgbClr val="1E293B"/>
                </a:solidFill>
              </a:rPr>
              <a:t>Deploy simulated overhead RGB-D camera; replace ideal coordinate reporting with OpenCV color segmentation &amp; 3D centroid calculation.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2. Trajectory Corner Blending (R5): </a:t>
            </a:r>
            <a:r>
              <a:rPr sz="1100">
                <a:solidFill>
                  <a:srgbClr val="1E293B"/>
                </a:solidFill>
              </a:rPr>
              <a:t>Implement parabolic corner blending / quintic splines between Manhattan waypoints to eliminate stop-start pauses (target cycle time: ~15s).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3. Dynamic Obstacle Proximity (R8 Ext): </a:t>
            </a:r>
            <a:r>
              <a:rPr sz="1100">
                <a:solidFill>
                  <a:srgbClr val="1E293B"/>
                </a:solidFill>
              </a:rPr>
              <a:t>Simulate human operator proximity zones or moving obstacles to test dynamic reactive replanning.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4. 100-Item Continuous Stress Run: </a:t>
            </a:r>
            <a:r>
              <a:rPr sz="1100">
                <a:solidFill>
                  <a:srgbClr val="1E293B"/>
                </a:solidFill>
              </a:rPr>
              <a:t>Run unattended 10-minute continuous sorting benchmark with randomized cube arrival and automatic fault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Sprint Execution Timeline (Week 07)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Structured 7-day development schedule: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Days 1-2 (Tue - Wed, Oct 21-22): </a:t>
            </a:r>
            <a:r>
              <a:rPr sz="1100">
                <a:solidFill>
                  <a:srgbClr val="1E293B"/>
                </a:solidFill>
              </a:rPr>
              <a:t>Set up OpenCV camera node in ROS Noetic; stream RGB-D point clouds from Unity camera sensor.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Days 3-4 (Thu - Fri, Oct 23-24): </a:t>
            </a:r>
            <a:r>
              <a:rPr sz="1100">
                <a:solidFill>
                  <a:srgbClr val="1E293B"/>
                </a:solidFill>
              </a:rPr>
              <a:t>Calibrate camera-to-robot extrinsics; implement trajectory velocity scaling and corner smoothing filters.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Days 5-6 (Sat - Sun, Oct 25-26): </a:t>
            </a:r>
            <a:r>
              <a:rPr sz="1100">
                <a:solidFill>
                  <a:srgbClr val="1E293B"/>
                </a:solidFill>
              </a:rPr>
              <a:t>Execute 100-item unattended stress test; log QA reliability metrics and record multi-angle video demo.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Day 7 (Mon, Oct 27): </a:t>
            </a:r>
            <a:r>
              <a:rPr sz="1100">
                <a:solidFill>
                  <a:srgbClr val="1E293B"/>
                </a:solidFill>
              </a:rPr>
              <a:t>Milestone 2 Defense Report compilation and final slide preparation.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DEFENSE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Summary &amp; Committee Discussion /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98480" y="438912"/>
            <a:ext cx="758952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Key Engineering Takeaways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Week 06 milestone accomplishments: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Full Machine Safety Compliance (R8): </a:t>
            </a:r>
            <a:r>
              <a:rPr sz="1100">
                <a:solidFill>
                  <a:srgbClr val="1E293B"/>
                </a:solidFill>
              </a:rPr>
              <a:t>Realistic 0.36m acrylic machine guarding with ergonomic 0.44m pick portal and 0.42m rear control station.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Pure Manhattan Orthogonal Motion: </a:t>
            </a:r>
            <a:r>
              <a:rPr sz="1100">
                <a:solidFill>
                  <a:srgbClr val="1E293B"/>
                </a:solidFill>
              </a:rPr>
              <a:t>Completely eliminated erratic diagonal 3D splines in favor of predictable, stepped horizontal-vertical-horizontal trajectories.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Kinematic Precision &amp; Bug Elimination: </a:t>
            </a:r>
            <a:r>
              <a:rPr sz="1100">
                <a:solidFill>
                  <a:srgbClr val="1E293B"/>
                </a:solidFill>
              </a:rPr>
              <a:t>Resolved Blue bin collision threshold and Unity kinematic velocity warnings.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Benchmark Verification: </a:t>
            </a:r>
            <a:r>
              <a:rPr sz="1100">
                <a:solidFill>
                  <a:srgbClr val="1E293B"/>
                </a:solidFill>
              </a:rPr>
              <a:t>500+ consecutive trials with 100% success rate and zero collisions across all 3 bins.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spcAft>
                <a:spcPts val="300"/>
              </a:spcAft>
              <a:defRPr sz="1400" b="1">
                <a:solidFill>
                  <a:srgbClr val="0F2B48"/>
                </a:solidFill>
              </a:defRPr>
            </a:pPr>
            <a:r>
              <a:t>Open Floor for Discussion</a:t>
            </a:r>
          </a:p>
          <a:p>
            <a:pPr>
              <a:spcAft>
                <a:spcPts val="800"/>
              </a:spcAft>
              <a:defRPr sz="1050" i="1">
                <a:solidFill>
                  <a:srgbClr val="64748B"/>
                </a:solidFill>
              </a:defRPr>
            </a:pPr>
            <a:r>
              <a:t>Faculty committee demonstration &amp; feedback: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Live Demonstration: </a:t>
            </a:r>
            <a:r>
              <a:rPr sz="1100">
                <a:solidFill>
                  <a:srgbClr val="1E293B"/>
                </a:solidFill>
              </a:rPr>
              <a:t>Real-time demonstration of Manhattan stepped sorting across Red, Yellow, and Blue bins.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Milestone 2 Readiness: </a:t>
            </a:r>
            <a:r>
              <a:rPr sz="1100">
                <a:solidFill>
                  <a:srgbClr val="1E293B"/>
                </a:solidFill>
              </a:rPr>
              <a:t>Workcell architecture is 100% prepared for computer vision migration and velocity profile smoothing in Week 07.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Faculty Feedback: </a:t>
            </a:r>
            <a:r>
              <a:rPr sz="1100">
                <a:solidFill>
                  <a:srgbClr val="1E293B"/>
                </a:solidFill>
              </a:rPr>
              <a:t>Inviting suggestions and recommendations from the supervisory committee.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B48"/>
                </a:solidFill>
              </a:rPr>
              <a:t>• Thank You: </a:t>
            </a:r>
            <a:r>
              <a:rPr sz="1100">
                <a:solidFill>
                  <a:srgbClr val="1E293B"/>
                </a:solidFill>
              </a:rPr>
              <a:t>Thank you for your guidance and support throughout Use Case 08 development!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