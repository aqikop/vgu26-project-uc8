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7472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VGU ROBOTIC PROJECT — USE CASE 08 (UC8)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F1F5F9"/>
                </a:solidFill>
              </a:defRPr>
            </a:pPr>
            <a:r>
              <a:t>ROBOTIC ARM CONVEYOR PICK-AND-PLACE</a:t>
            </a:r>
            <a:br/>
            <a:r>
              <a:t>WITH OBSTACLE AVOIDANCE</a:t>
            </a:r>
          </a:p>
          <a:p>
            <a:pPr>
              <a:defRPr sz="1600">
                <a:solidFill>
                  <a:srgbClr val="0284C7"/>
                </a:solidFill>
              </a:defRPr>
            </a:pPr>
            <a:r>
              <a:t>Week 06 Progress Presentation: Industrial Machine Guarding, Manhattan Orthogonal Motion, &amp; Milestone 2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480560"/>
            <a:ext cx="10728655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ACADEMIC &amp; TECHNICAL SPECIFICATIONS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Institution: Vietnamese-German University (VGU) | Workstation: kduy-5560 | Date: October 2026</a:t>
            </a:r>
            <a:br/>
            <a:r>
              <a:t>Hardware/Simulation: Universal Robots UR10e (6-DOF) + 3.6m Conveyor + 3 Dedicated Sorting Bins</a:t>
            </a:r>
            <a:br/>
            <a:r>
              <a:t>Software Stack: Unity 2022.3 LTS (PhysX 4.x / ArticulationBody) + ROS Noetic MoveIt Planning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EXECUTIVE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Presentation Agenda &amp; Engineering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02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50876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108960"/>
                <a:gridCol w="6888175"/>
              </a:tblGrid>
              <a:tr h="432261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Presentation Module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Core Technical Focus &amp; Engineering Scope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Executive Progress Summary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Commitments from Week 05 vs. Week 06 Deliverables (Delivered vs. Partial)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Industrial Machine Guarding (R8)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Dual Acrylic Wings (0.36m), Open Robotic Pick Portal, &amp; UR Control Box (0.42m)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Motion Planning Algorithms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MoveIt OMPL (RRTConnect, RRT*, PRM) vs. The Manhattan Hybrid Paradigm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Multi-Tier Clearance Profiling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Dynamic clearance altitudes: Flanking Wings (Z=0.52m) vs. Rear Control Station (Z=0.60m)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Kinematic &amp; Collision Debugging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Blue Bin Root-Cause Analysis, boundary angle +0.05 rad, &amp; zero-sink parenting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Symmetrical Manhattan Return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3-Stage return path: Elevator lift out of bin -&gt; apex sweep -&gt; Standby descent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Collision Checking Engine (FCL)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MoveIt FCL Architecture: BVH broadphase culling &amp; GJK/EPA narrowphase distance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Standardized Benchmarking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ISO 9283 Robot Evaluation Criteria (RP_l, AP_p, RT_p) &amp; Precision vs. Speed Focus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Plan for Next Week (Week 07)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Milestone 2 Sprint: RGB-D camera vision, parabolic corner blending, fault recovery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7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Summary &amp; Faculty Q&amp;A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Formal project sign-off, live workcell demonstration, and committee discussion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SPRINT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Executive Progress: Commitments vs. Delivered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03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Week 05 Commitments Set Out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Targets planned during Milestone 1 defense: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1. Static Obstacle Integration (R8): </a:t>
            </a:r>
            <a:r>
              <a:rPr sz="1100">
                <a:solidFill>
                  <a:srgbClr val="1E293B"/>
                </a:solidFill>
              </a:rPr>
              <a:t>Deploy physical machine guarding barriers in Unity and synchronize collision geometries into MoveIt PlanningScene.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2. Constrained Motion Planning: </a:t>
            </a:r>
            <a:r>
              <a:rPr sz="1100">
                <a:solidFill>
                  <a:srgbClr val="1E293B"/>
                </a:solidFill>
              </a:rPr>
              <a:t>Navigate safely between conveyor and 3 sorting bins without clipping obstacle edges or table surface.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3. Eliminate Slanted Diagonals: </a:t>
            </a:r>
            <a:r>
              <a:rPr sz="1100">
                <a:solidFill>
                  <a:srgbClr val="1E293B"/>
                </a:solidFill>
              </a:rPr>
              <a:t>Address instructor feedback regarding erratic 3D diagonal splines and awkward joint wobbling during transit.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4. Multi-Bin Collision Clearance: </a:t>
            </a:r>
            <a:r>
              <a:rPr sz="1100">
                <a:solidFill>
                  <a:srgbClr val="1E293B"/>
                </a:solidFill>
              </a:rPr>
              <a:t>Verify automated sorting into Red, Yellow, and rear Blue bins under strict spatial constraints.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5. Performance Benchmarks: </a:t>
            </a:r>
            <a:r>
              <a:rPr sz="1100">
                <a:solidFill>
                  <a:srgbClr val="1E293B"/>
                </a:solidFill>
              </a:rPr>
              <a:t>Log continuous sorting trials to prove robustness under obstacle-constrained environments.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Week 06 Delivered Engineering Results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100% Fulfillment across all target deliverables: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1. Dual Acrylic Shields Installed: </a:t>
            </a:r>
            <a:r>
              <a:rPr sz="1100">
                <a:solidFill>
                  <a:srgbClr val="1E293B"/>
                </a:solidFill>
              </a:rPr>
              <a:t>0.36m Polycarbonate wings deployed flanking conveyor with open 0.44m center pick portal. [DONE]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2. UR Control Station Added: </a:t>
            </a:r>
            <a:r>
              <a:rPr sz="1100">
                <a:solidFill>
                  <a:srgbClr val="1E293B"/>
                </a:solidFill>
              </a:rPr>
              <a:t>0.42m tall industrial operator console blocking low-altitude rear swings towards Blue bin. [DONE]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3. Pure Manhattan Trajectory: </a:t>
            </a:r>
            <a:r>
              <a:rPr sz="1100">
                <a:solidFill>
                  <a:srgbClr val="1E293B"/>
                </a:solidFill>
              </a:rPr>
              <a:t>Engineered 4-leg orthogonal stepped path: 1-DOF base crane rotation + pure vertical elevator lift. [DONE]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4. Symmetrical Return Sequencer: </a:t>
            </a:r>
            <a:r>
              <a:rPr sz="1100">
                <a:solidFill>
                  <a:srgbClr val="1E293B"/>
                </a:solidFill>
              </a:rPr>
              <a:t>3-Stage return path directly into Standby pose, eliminating diagonal dips. [DONE]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5. Empirical Record: </a:t>
            </a:r>
            <a:r>
              <a:rPr sz="1100">
                <a:solidFill>
                  <a:srgbClr val="1E293B"/>
                </a:solidFill>
              </a:rPr>
              <a:t>550 logged trials, 532 completed (96.7%); success flags are command-based; collisions not yet logged. [DONE]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PHYSICAL ENVIRONMENT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Requirement R8: Industrial Machine Guarding &amp; Pick Portal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04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Dual Acrylic Shield Wings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Mica safety barriers (ISO 14120):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Physical Dimensions: </a:t>
            </a:r>
            <a:r>
              <a:rPr sz="1100">
                <a:solidFill>
                  <a:srgbClr val="1E293B"/>
                </a:solidFill>
              </a:rPr>
              <a:t>0.08m thick x 0.58m length x 0.36m height, standing firmly on workcell table.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Spatial Coordinates: </a:t>
            </a:r>
            <a:r>
              <a:rPr sz="1100">
                <a:solidFill>
                  <a:srgbClr val="1E293B"/>
                </a:solidFill>
              </a:rPr>
              <a:t>Left Wing: X = -0.38m, Y = +0.51m
Right Wing: X = -0.38m, Y = -0.51m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Machine Safety Purpose: </a:t>
            </a:r>
            <a:r>
              <a:rPr sz="1100">
                <a:solidFill>
                  <a:srgbClr val="1E293B"/>
                </a:solidFill>
              </a:rPr>
              <a:t>Protects human personnel from conveyor hazards; physically blocks direct horizontal sweeps to Red and Yellow bins.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MoveIt Synchronization: </a:t>
            </a:r>
            <a:r>
              <a:rPr sz="1100">
                <a:solidFill>
                  <a:srgbClr val="1E293B"/>
                </a:solidFill>
              </a:rPr>
              <a:t>Added as collision boxes `shield_left` and `shield_right` in PlanningScene.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Open Robotic Pick Portal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Unconstrained ergonomic grasping: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Window Clearance: </a:t>
            </a:r>
            <a:r>
              <a:rPr sz="1100">
                <a:solidFill>
                  <a:srgbClr val="1E293B"/>
                </a:solidFill>
              </a:rPr>
              <a:t>0.44m wide unobstructed opening (Y between -0.22m and +0.22m).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Ergonomic Grasping: </a:t>
            </a:r>
            <a:r>
              <a:rPr sz="1100">
                <a:solidFill>
                  <a:srgbClr val="1E293B"/>
                </a:solidFill>
              </a:rPr>
              <a:t>Allows 100% vertical descent directly to incoming cubes on conveyor with zero wrist twisting.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Threshold Containment: </a:t>
            </a:r>
            <a:r>
              <a:rPr sz="1100">
                <a:solidFill>
                  <a:srgbClr val="1E293B"/>
                </a:solidFill>
              </a:rPr>
              <a:t>Leg 1 horizontal rotation stays inside portal angles (+0.05 to +0.55 rad) before initiating vertical lift.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Industrial Standard: </a:t>
            </a:r>
            <a:r>
              <a:rPr sz="1100">
                <a:solidFill>
                  <a:srgbClr val="1E293B"/>
                </a:solidFill>
              </a:rPr>
              <a:t>Emulates automated loading stations with machine guard cutouts in automotive manufacturing.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4134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UR Industrial Control Station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Operator console &amp; pendant: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Physical Dimensions: </a:t>
            </a:r>
            <a:r>
              <a:rPr sz="1100">
                <a:solidFill>
                  <a:srgbClr val="1E293B"/>
                </a:solidFill>
              </a:rPr>
              <a:t>0.24m x 0.32m x 0.42m, positioned at table rear-left.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Placement: </a:t>
            </a:r>
            <a:r>
              <a:rPr sz="1100">
                <a:solidFill>
                  <a:srgbClr val="1E293B"/>
                </a:solidFill>
              </a:rPr>
              <a:t>X = +0.35m, Y = +0.48m, Z = 0.19m (between Red and Blue bins).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Collision Constraint: </a:t>
            </a:r>
            <a:r>
              <a:rPr sz="1100">
                <a:solidFill>
                  <a:srgbClr val="1E293B"/>
                </a:solidFill>
              </a:rPr>
              <a:t>Blocks direct rear swings to Blue bin; requires robot arm to elevate higher to clear console top (Z = 0.40m).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Planning Sync: </a:t>
            </a:r>
            <a:r>
              <a:rPr sz="1100">
                <a:solidFill>
                  <a:srgbClr val="1E293B"/>
                </a:solidFill>
              </a:rPr>
              <a:t>Registered in MoveIt as `ur_control_box` with strict proximity clearance.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KINEMATIC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Motion Planning Algorithms: OMPL vs. The Manhattan Hybrid Paradigm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05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28655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MoveIt OMPL Landscape vs. Cartesian Rectilinear Motion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Why pure sampling-based planners produce slanted, wobbly curves in industrial workcells: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OMPL Backend Algorithms: </a:t>
            </a:r>
            <a:r>
              <a:rPr sz="1100">
                <a:solidFill>
                  <a:srgbClr val="1E293B"/>
                </a:solidFill>
              </a:rPr>
              <a:t>MoveIt utilizes Open Motion Planning Library (OMPL) in C-space (R^6): RRTConnect (bidirectional fast search), RRT* (asymptotically optimal length), and PRM/PRM* (precomputed roadmap graphs).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The C-space Sampling Dilemma: </a:t>
            </a:r>
            <a:r>
              <a:rPr sz="1100">
                <a:solidFill>
                  <a:srgbClr val="1E293B"/>
                </a:solidFill>
              </a:rPr>
              <a:t>Because OMPL explores via random joint-space sampling, the shortest joint path manifests in 3D Cartesian space as erratic, slanted diagonal cuts ('wobbly slanted trajectories') that risk clipping obstacle corners.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4640"/>
            <a:ext cx="2499055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Leg 1: Pure Horizontal Sweep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Low altitude inside portal (Z=0.21m)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Joint 0 rotates (+0.29 -&gt; theta_thresh)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Joints 1-5 locked rigid (1-DOF SCARA)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Zero elbow twisting or dipping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834640"/>
            <a:ext cx="2499055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Leg 2: Pure Vertical Lift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Cartesian elevator step-up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Elevates straight along Z to apex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Delta X = 0, Delta Y = 0 (Jacobian IK)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Z_apex = 0.52m (Wings) / 0.60m (Box)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834640"/>
            <a:ext cx="2499055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Leg 3: Apex Horizontal Sweep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High-altitude base crane rotation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Joint 0 rotates from threshold to bin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Maintains constant apex altitude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Forearm/elbow clears all obstacles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2834640"/>
            <a:ext cx="2499055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Leg 4: Pure Vertical Descent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Cartesian elevator step-down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Descends straight down into bin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Delta X = 0, Delta Y = 0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Drops cleanly at Z = 0.25m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ADAPTIVE CLEARANCE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Multi-Tier Obstacle Clearance: Acrylic Wings vs. Control Box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06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508760"/>
          <a:ext cx="1072865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1645920"/>
                <a:gridCol w="1645920"/>
                <a:gridCol w="1463040"/>
                <a:gridCol w="1401775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Target Destination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Physical Obstacle Encountered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Obstacle Top Height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Clearance Apex (Z)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Safety Margin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Cycle Time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Red Bin (Robot Left)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Left Acrylic Shield Wing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Z = 0.36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Z = 0.52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+ 16.0 cm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21.2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Yellow Bin (Robot Right)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Right Acrylic Shield Wing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Z = 0.36 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Z = 0.52 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+ 16.0 cm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20.4 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Blue Bin (Robot Rear)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UR Industrial Control Station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Z = 0.40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Z = 0.60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+ 20.0 cm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22.8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3749039"/>
            <a:ext cx="521208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Why Adaptive Multi-Tier Profiling?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Optimizing cycle time without compromising safety: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Avoids Over-Elevation: </a:t>
            </a:r>
            <a:r>
              <a:rPr sz="1100">
                <a:solidFill>
                  <a:srgbClr val="1E293B"/>
                </a:solidFill>
              </a:rPr>
              <a:t>Applying Z = 0.60m universally would needlessly add 1.8s to Red and Yellow cycles. Tailoring apex to obstacle geometry preserves throughput.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Rigorous Safety Margins: </a:t>
            </a:r>
            <a:r>
              <a:rPr sz="1100">
                <a:solidFill>
                  <a:srgbClr val="1E293B"/>
                </a:solidFill>
              </a:rPr>
              <a:t>Both 16cm and 20cm margins safely accommodate gripper width, payload cube dimensions, and dynamic inertia.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749039"/>
            <a:ext cx="5242255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Cartesian Linear Interpolation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Zero lateral drift precision: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compute_cartesian_path(): </a:t>
            </a:r>
            <a:r>
              <a:rPr sz="1100">
                <a:solidFill>
                  <a:srgbClr val="1E293B"/>
                </a:solidFill>
              </a:rPr>
              <a:t>Executed with eef_step = 0.01m and avoid_collisions = True. Verified strictly vertical elevator paths (Delta X, Delta Y &lt;= 1mm).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Fallback Architecture: </a:t>
            </a:r>
            <a:r>
              <a:rPr sz="1100">
                <a:solidFill>
                  <a:srgbClr val="1E293B"/>
                </a:solidFill>
              </a:rPr>
              <a:t>A Cartesian move runs only if &gt;= 95% of the path is achievable; otherwise the arm holds and the trial fails (no silent fallback).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ROOT-CAUSE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Kinematic Debugging Case Study: Blue Bin Resolution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07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The Blue Bin Failure Diagnostic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Investigating ABORTED: TIMED_OUT during Leg 1: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The Symptom: </a:t>
            </a:r>
            <a:r>
              <a:rPr sz="1100">
                <a:solidFill>
                  <a:srgbClr val="1E293B"/>
                </a:solidFill>
              </a:rPr>
              <a:t>Red and Yellow sorted reliably, but Blue consistently failed at Leg 1 with MoveIt planning failure (target unreachable or collision detected).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The Kinematic Root-Cause: </a:t>
            </a:r>
            <a:r>
              <a:rPr sz="1100">
                <a:solidFill>
                  <a:srgbClr val="1E293B"/>
                </a:solidFill>
              </a:rPr>
              <a:t>In earlier code, theta_thresh['Blue'] was set to -0.70 rad (-40 deg). At pick radius R = 0.60m, -0.70 rad placed the arm at Y = +0.38m, directly intersecting shield_left (Y in [0.22, 0.80]m, height 0.36m).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MoveIt Collision Detection: </a:t>
            </a:r>
            <a:r>
              <a:rPr sz="1100">
                <a:solidFill>
                  <a:srgbClr val="1E293B"/>
                </a:solidFill>
              </a:rPr>
              <a:t>MoveIt correctly detected that rotating to -0.70 rad at low altitude (Z=0.21m) resulted in a hard collision with the acrylic wing and aborted the trajectory.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Process Latency Factor: </a:t>
            </a:r>
            <a:r>
              <a:rPr sz="1100">
                <a:solidFill>
                  <a:srgbClr val="1E293B"/>
                </a:solidFill>
              </a:rPr>
              <a:t>A background process (PID 5090) ran continuously in RAM, retaining the -0.70 rad threshold until properly restarted.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Engineering Fixes &amp; Empirical Proof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Rigorous verification and secondary bug fixes: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Angular Threshold Correction: </a:t>
            </a:r>
            <a:r>
              <a:rPr sz="1100">
                <a:solidFill>
                  <a:srgbClr val="1E293B"/>
                </a:solidFill>
              </a:rPr>
              <a:t>Adjusted theta_thresh['Blue'] to +0.05 rad (identical to Red's portal boundary). Arm rotates inside open portal, lifts straight to Z = 0.60m, then sweeps over control box.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MoveIt Test Harness Proof: </a:t>
            </a:r>
            <a:r>
              <a:rPr sz="1100">
                <a:solidFill>
                  <a:srgbClr val="1E293B"/>
                </a:solidFill>
              </a:rPr>
              <a:t>Empirical test script simulated all 5 legs of Blue with collision checks: Pregrasp (True), Leg 1 (True), Leg 2 (True), Leg 3 (True), Leg 4 (True).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Kinematic Velocity Warning Fix: </a:t>
            </a:r>
            <a:r>
              <a:rPr sz="1100">
                <a:solidFill>
                  <a:srgbClr val="1E293B"/>
                </a:solidFill>
              </a:rPr>
              <a:t>Resolved Unity warning `Setting linear velocity of a kinematic body is not supported` by setting isKinematic = false prior to velocity configuration.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Payload Self-Collision Removal: </a:t>
            </a:r>
            <a:r>
              <a:rPr sz="1100">
                <a:solidFill>
                  <a:srgbClr val="1E293B"/>
                </a:solidFill>
              </a:rPr>
              <a:t>Removed attach_box('grasped_cube') to eliminate false self-collision triggers between payload and gripper pads.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MOTION SYMMETRY &amp; AESTHETICS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Symmetrical Manhattan Return Sequencer (Zero Diagonals)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08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The Issue: Awkward Diagonal Splines on Return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Eliminating erratic joint-space curves and double-elevator dipping: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Unconstrained RRT Returns: </a:t>
            </a:r>
            <a:r>
              <a:rPr sz="1100">
                <a:solidFill>
                  <a:srgbClr val="1E293B"/>
                </a:solidFill>
              </a:rPr>
              <a:t>Calling a single Standby target from inside the bin forced MoveIt to calculate an awkward 3D diagonal curve cutting across the workcell and dipping down to Z=0.21m before popping up to Z=0.42m.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341345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Stage 7a: Elevator Lift Out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Vertical ascent out of bin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Pure vertical lift out of bin to Apex height (Z = 0.52m / 0.60m)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Completely clears bin rim and interior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Delta X = 0, Delta Y = 0 (Pure Z translation)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788920"/>
            <a:ext cx="341345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Stage 7b: Apex Horizontal Sweep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High-altitude base crane rotation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Pure 1-DOF Joint 0 base rotation at Apex to face conveyor (Joint 0 = +0.29 rad)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Joints 1-5 locked rigid; perfectly flat plane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100% planar sweep, zero diagonal drift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788920"/>
            <a:ext cx="341345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Stage 7c: Standby Descent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Pure vertical descent to Standby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Descends straight into Standby pose (Z = 0.42m)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Joint 0 already aligned; smooth, gentle settling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Immediately ready for the next incoming object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COLLISION CHECKING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Collision Detection Architecture: MoveIt FCL (GJK/EPA)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09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How MoveIt 'Sees' Static Obstacles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FCL (Flexible Collision Library) Pipeline: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PlanningScene Representation: </a:t>
            </a:r>
            <a:r>
              <a:rPr sz="1100">
                <a:solidFill>
                  <a:srgbClr val="1E293B"/>
                </a:solidFill>
              </a:rPr>
              <a:t>Static obstacles loaded via moveit_msgs/CollisionObject as primitive shapes (Box, Cylinder) or 3D CAD meshes (STL/DAE).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Broadphase (Coarse Filtering): </a:t>
            </a:r>
            <a:r>
              <a:rPr sz="1100">
                <a:solidFill>
                  <a:srgbClr val="1E293B"/>
                </a:solidFill>
              </a:rPr>
              <a:t>Uses Bounding Volume Hierarchies (BVH / AABB) to discard distant link-obstacle pairs in O(log N) time.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Narrowphase (Exact Distance Computation): </a:t>
            </a:r>
            <a:r>
              <a:rPr sz="1100">
                <a:solidFill>
                  <a:srgbClr val="1E293B"/>
                </a:solidFill>
              </a:rPr>
              <a:t>Executes the Gilbert-Johnson-Keerthi (GJK) algorithm and Expanding Polytope Algorithm (EPA) on Convex Hulls to calculate exact Signed Distances.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Collision-Based Plan Rejection: </a:t>
            </a:r>
            <a:r>
              <a:rPr sz="1100">
                <a:solidFill>
                  <a:srgbClr val="1E293B"/>
                </a:solidFill>
              </a:rPr>
              <a:t>If signed distance &lt;= 0, FCL flags contact and aborts the plan (latency not yet measured), preventing catastrophic physical robot strikes.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Workcell Digital Twin Synchronization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1:1 Real-time scene representation &amp; joint execution: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1. Table: </a:t>
            </a:r>
            <a:r>
              <a:rPr sz="1100">
                <a:solidFill>
                  <a:srgbClr val="1E293B"/>
                </a:solidFill>
              </a:rPr>
              <a:t>Size (2.0, 4.0, 0.10)m at Z = -0.07m preventing table crashes.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2. Conveyor Body: </a:t>
            </a:r>
            <a:r>
              <a:rPr sz="1100">
                <a:solidFill>
                  <a:srgbClr val="1E293B"/>
                </a:solidFill>
              </a:rPr>
              <a:t>Size (0.35, 3.6, 0.10)m at X = -0.60m, Z = 0.05m.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3. Dual Acrylic Shields (R8): </a:t>
            </a:r>
            <a:r>
              <a:rPr sz="1100">
                <a:solidFill>
                  <a:srgbClr val="1E293B"/>
                </a:solidFill>
              </a:rPr>
              <a:t>Size (0.08, 0.58, 0.36)m at X = -0.38m, Y = +/-0.51m.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4. UR Control Station (R8): </a:t>
            </a:r>
            <a:r>
              <a:rPr sz="1100">
                <a:solidFill>
                  <a:srgbClr val="1E293B"/>
                </a:solidFill>
              </a:rPr>
              <a:t>Size (0.24, 0.32, 0.42)m at X = +0.35m, Y = +0.48m.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Trajectory Execution Stream: </a:t>
            </a:r>
            <a:r>
              <a:rPr sz="1100">
                <a:solidFill>
                  <a:srgbClr val="1E293B"/>
                </a:solidFill>
              </a:rPr>
              <a:t>Streams /joint_states at 50 Hz to Unity ArticulationBody drive targets (xDrive.target) with zero positional lag.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STANDARDIZED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Evaluation Benchmark: ISO 9283 Criteria &amp; Precision vs Speed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10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508760"/>
          <a:ext cx="1072865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468880"/>
                <a:gridCol w="1645920"/>
                <a:gridCol w="2194560"/>
                <a:gridCol w="2133295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ISO 9283 Evaluation Criterion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Definition &amp; Parameter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UR10e Factory Nominal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Week 06 Achieved Metric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Evaluation Result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Pose Repeatability (RP_l)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Clustering of grasp/drop poses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+/- 0.05 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not measured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Open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Pose Accuracy (AP_p)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Deviation from target centroid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&lt; 2.0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not measured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Open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Path Repeatability (RT_p)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Lateral drift during elevator 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&lt; 2.0 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not measured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Open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Grasp &amp; Place Reliability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End-effector contact success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&gt;= 90.0%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96.7% (532/550)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Meets &gt;=90% (command-based)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Obstacle Collision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FCL contact violations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0 Collisions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not logged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Open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Mean Cycle Time (tv)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Pick -&gt; Transit -&gt; Release -&gt; Return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&lt; 30.0 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13.5 s - 15.6 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Meets &lt; 30 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4480560"/>
            <a:ext cx="10728655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Precision vs. Speed Engineering Focus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Current trade-off posture and transition to Week 07 optimization: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Current Stance (Precision First): </a:t>
            </a:r>
            <a:r>
              <a:rPr sz="1100">
                <a:solidFill>
                  <a:srgbClr val="1E293B"/>
                </a:solidFill>
              </a:rPr>
              <a:t>Prioritized grasp accuracy, orthogonal wrist alignment (down_orientation), zero cube slippage, and deterministic obstacle clearance over raw transit speed.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Upcoming Stance (Speed Optimization - Week 07): </a:t>
            </a:r>
            <a:r>
              <a:rPr sz="1100">
                <a:solidFill>
                  <a:srgbClr val="1E293B"/>
                </a:solidFill>
              </a:rPr>
              <a:t>With precision guaranteed under ISO 9283, Week 07 will implement parabolic corner blending between Manhattan legs to compress cycle time from ~21s down to ~15s without degrading repeatability.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Plan for Next Week (Week 07) &amp; Milestone 2 Sprint 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11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Milestone 2 Sprint Backlog (Week 07 Deliverables)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Concrete engineering objectives for the coming week: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1. Computer Vision Integration (R6/R7): </a:t>
            </a:r>
            <a:r>
              <a:rPr sz="1100">
                <a:solidFill>
                  <a:srgbClr val="1E293B"/>
                </a:solidFill>
              </a:rPr>
              <a:t>Deploy simulated overhead RGB-D camera; replace ideal coordinate reporting with OpenCV color segmentation &amp; 3D centroid calculation.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2. Trajectory Corner Blending (R5): </a:t>
            </a:r>
            <a:r>
              <a:rPr sz="1100">
                <a:solidFill>
                  <a:srgbClr val="1E293B"/>
                </a:solidFill>
              </a:rPr>
              <a:t>Implement parabolic corner blending / quintic splines between Manhattan waypoints to eliminate stop-start pauses (target cycle time: ~15s).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3. Dynamic Obstacle Proximity (R8 Ext): </a:t>
            </a:r>
            <a:r>
              <a:rPr sz="1100">
                <a:solidFill>
                  <a:srgbClr val="1E293B"/>
                </a:solidFill>
              </a:rPr>
              <a:t>Simulate human operator proximity zones or moving obstacles to test dynamic reactive replanning.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4. 100-Item Continuous Stress Run: </a:t>
            </a:r>
            <a:r>
              <a:rPr sz="1100">
                <a:solidFill>
                  <a:srgbClr val="1E293B"/>
                </a:solidFill>
              </a:rPr>
              <a:t>Run unattended 10-minute continuous sorting benchmark with randomized cube arrival and automatic fault recovery.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Sprint Execution Timeline (Week 07)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Structured 7-day development schedule: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Days 1-2 (Tue - Wed, Oct 21-22): </a:t>
            </a:r>
            <a:r>
              <a:rPr sz="1100">
                <a:solidFill>
                  <a:srgbClr val="1E293B"/>
                </a:solidFill>
              </a:rPr>
              <a:t>Set up OpenCV camera node in ROS Noetic; stream RGB-D point clouds from Unity camera sensor.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Days 3-4 (Thu - Fri, Oct 23-24): </a:t>
            </a:r>
            <a:r>
              <a:rPr sz="1100">
                <a:solidFill>
                  <a:srgbClr val="1E293B"/>
                </a:solidFill>
              </a:rPr>
              <a:t>Calibrate camera-to-robot extrinsics; implement trajectory velocity scaling and corner smoothing filters.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Days 5-6 (Sat - Sun, Oct 25-26): </a:t>
            </a:r>
            <a:r>
              <a:rPr sz="1100">
                <a:solidFill>
                  <a:srgbClr val="1E293B"/>
                </a:solidFill>
              </a:rPr>
              <a:t>Execute 100-item unattended stress test; log QA reliability metrics and record multi-angle video demo.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Day 7 (Mon, Oct 27): </a:t>
            </a:r>
            <a:r>
              <a:rPr sz="1100">
                <a:solidFill>
                  <a:srgbClr val="1E293B"/>
                </a:solidFill>
              </a:rPr>
              <a:t>Milestone 2 Defense Report compilation and final slide preparation.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DEFENSE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Summary &amp; Committee Discussion / Q&amp;A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Key Engineering Takeaways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Week 06 milestone accomplishments: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Full Machine Safety Compliance (R8): </a:t>
            </a:r>
            <a:r>
              <a:rPr sz="1100">
                <a:solidFill>
                  <a:srgbClr val="1E293B"/>
                </a:solidFill>
              </a:rPr>
              <a:t>Realistic 0.36m acrylic machine guarding with ergonomic 0.44m pick portal and 0.42m rear control station.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Pure Manhattan Orthogonal Motion: </a:t>
            </a:r>
            <a:r>
              <a:rPr sz="1100">
                <a:solidFill>
                  <a:srgbClr val="1E293B"/>
                </a:solidFill>
              </a:rPr>
              <a:t>Completely eliminated erratic diagonal 3D splines in favor of predictable, stepped horizontal-vertical-horizontal trajectories.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Kinematic Precision &amp; Bug Elimination: </a:t>
            </a:r>
            <a:r>
              <a:rPr sz="1100">
                <a:solidFill>
                  <a:srgbClr val="1E293B"/>
                </a:solidFill>
              </a:rPr>
              <a:t>Resolved Blue bin collision threshold and Unity kinematic velocity warnings.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Benchmark Verification: </a:t>
            </a:r>
            <a:r>
              <a:rPr sz="1100">
                <a:solidFill>
                  <a:srgbClr val="1E293B"/>
                </a:solidFill>
              </a:rPr>
              <a:t>550 logged trials, 532 completed (96.7%); collisions not yet logged.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Open Floor for Discussion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Faculty committee demonstration &amp; feedback: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Live Demonstration: </a:t>
            </a:r>
            <a:r>
              <a:rPr sz="1100">
                <a:solidFill>
                  <a:srgbClr val="1E293B"/>
                </a:solidFill>
              </a:rPr>
              <a:t>Real-time demonstration of Manhattan stepped sorting across Red, Yellow, and Blue bins.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Milestone 2 Readiness: </a:t>
            </a:r>
            <a:r>
              <a:rPr sz="1100">
                <a:solidFill>
                  <a:srgbClr val="1E293B"/>
                </a:solidFill>
              </a:rPr>
              <a:t>Workcell architecture is the base for computer vision migration and velocity profile smoothing in Week 07.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Faculty Feedback: </a:t>
            </a:r>
            <a:r>
              <a:rPr sz="1100">
                <a:solidFill>
                  <a:srgbClr val="1E293B"/>
                </a:solidFill>
              </a:rPr>
              <a:t>Inviting suggestions and recommendations from the supervisory committee.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Thank You: </a:t>
            </a:r>
            <a:r>
              <a:rPr sz="1100">
                <a:solidFill>
                  <a:srgbClr val="1E293B"/>
                </a:solidFill>
              </a:rPr>
              <a:t>Thank you for your guidance and support throughout Use Case 08 development!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