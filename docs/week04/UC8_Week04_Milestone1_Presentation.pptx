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914400" y="822960"/>
            <a:ext cx="1097280" cy="73152"/>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051560"/>
            <a:ext cx="10362895" cy="2011680"/>
          </a:xfrm>
          <a:prstGeom prst="rect">
            <a:avLst/>
          </a:prstGeom>
          <a:noFill/>
        </p:spPr>
        <p:txBody>
          <a:bodyPr wrap="square">
            <a:spAutoFit/>
          </a:bodyPr>
          <a:lstStyle/>
          <a:p>
            <a:pPr>
              <a:defRPr sz="2800" b="1">
                <a:solidFill>
                  <a:srgbClr val="F1F5F9"/>
                </a:solidFill>
              </a:defRPr>
            </a:pPr>
            <a:r>
              <a:t>UC8: ROBOTIC ARM CONVEYOR PICK-AND-PLACE</a:t>
            </a:r>
          </a:p>
          <a:p>
            <a:pPr>
              <a:defRPr sz="2800" b="1">
                <a:solidFill>
                  <a:srgbClr val="0284C7"/>
                </a:solidFill>
              </a:defRPr>
            </a:pPr>
            <a:r>
              <a:t>WITH OBSTACLE AVOIDANCE</a:t>
            </a:r>
          </a:p>
          <a:p>
            <a:pPr>
              <a:defRPr sz="1600">
                <a:solidFill>
                  <a:srgbClr val="94A3B8"/>
                </a:solidFill>
              </a:defRPr>
            </a:pPr>
            <a:r>
              <a:t>Week 04 Progress Report and Preparation for Milestone 1</a:t>
            </a:r>
          </a:p>
        </p:txBody>
      </p:sp>
      <p:sp>
        <p:nvSpPr>
          <p:cNvPr id="5" name="Rounded Rectangle 4"/>
          <p:cNvSpPr/>
          <p:nvPr/>
        </p:nvSpPr>
        <p:spPr>
          <a:xfrm>
            <a:off x="914400" y="3291840"/>
            <a:ext cx="5029200" cy="292608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43000" y="3474720"/>
            <a:ext cx="4572000" cy="2560320"/>
          </a:xfrm>
          <a:prstGeom prst="rect">
            <a:avLst/>
          </a:prstGeom>
          <a:noFill/>
        </p:spPr>
        <p:txBody>
          <a:bodyPr wrap="square">
            <a:spAutoFit/>
          </a:bodyPr>
          <a:lstStyle/>
          <a:p>
            <a:pPr>
              <a:spcAft>
                <a:spcPts val="800"/>
              </a:spcAft>
              <a:defRPr sz="1200" b="1">
                <a:solidFill>
                  <a:srgbClr val="0284C7"/>
                </a:solidFill>
              </a:defRPr>
            </a:pPr>
            <a:r>
              <a:t>PROJECT METADATA</a:t>
            </a:r>
          </a:p>
          <a:p>
            <a:pPr>
              <a:spcAft>
                <a:spcPts val="400"/>
              </a:spcAft>
            </a:pPr>
            <a:r>
              <a:rPr b="1" sz="1000">
                <a:solidFill>
                  <a:srgbClr val="F1F5F9"/>
                </a:solidFill>
              </a:rPr>
              <a:t>• Course:         </a:t>
            </a:r>
            <a:r>
              <a:rPr sz="1000">
                <a:solidFill>
                  <a:srgbClr val="CBD5E1"/>
                </a:solidFill>
              </a:rPr>
              <a:t>Robotic Project, Vietnamese-German University</a:t>
            </a:r>
          </a:p>
          <a:p>
            <a:pPr>
              <a:spcAft>
                <a:spcPts val="400"/>
              </a:spcAft>
            </a:pPr>
            <a:r>
              <a:rPr b="1" sz="1000">
                <a:solidFill>
                  <a:srgbClr val="F1F5F9"/>
                </a:solidFill>
              </a:rPr>
              <a:t>• System:         </a:t>
            </a:r>
            <a:r>
              <a:rPr sz="1000">
                <a:solidFill>
                  <a:srgbClr val="CBD5E1"/>
                </a:solidFill>
              </a:rPr>
              <a:t>UR10e, conveyor, ROS Noetic, MoveIt and Unity</a:t>
            </a:r>
          </a:p>
          <a:p>
            <a:pPr>
              <a:spcAft>
                <a:spcPts val="400"/>
              </a:spcAft>
            </a:pPr>
            <a:r>
              <a:rPr b="1" sz="1000">
                <a:solidFill>
                  <a:srgbClr val="F1F5F9"/>
                </a:solidFill>
              </a:rPr>
              <a:t>• Current phase:  </a:t>
            </a:r>
            <a:r>
              <a:rPr sz="1000">
                <a:solidFill>
                  <a:srgbClr val="CBD5E1"/>
                </a:solidFill>
              </a:rPr>
              <a:t>Week 04 integration and pre-M1 verification</a:t>
            </a:r>
          </a:p>
          <a:p>
            <a:pPr>
              <a:spcAft>
                <a:spcPts val="400"/>
              </a:spcAft>
            </a:pPr>
            <a:r>
              <a:rPr b="1" sz="1000">
                <a:solidFill>
                  <a:srgbClr val="F1F5F9"/>
                </a:solidFill>
              </a:rPr>
              <a:t>• Next review:    </a:t>
            </a:r>
            <a:r>
              <a:rPr sz="1000">
                <a:solidFill>
                  <a:srgbClr val="CBD5E1"/>
                </a:solidFill>
              </a:rPr>
              <a:t>Milestone 1 in Week 05</a:t>
            </a:r>
          </a:p>
          <a:p>
            <a:pPr>
              <a:spcAft>
                <a:spcPts val="400"/>
              </a:spcAft>
            </a:pPr>
            <a:r>
              <a:rPr b="1" sz="1000">
                <a:solidFill>
                  <a:srgbClr val="F1F5F9"/>
                </a:solidFill>
              </a:rPr>
              <a:t>• Status:         </a:t>
            </a:r>
            <a:r>
              <a:rPr sz="1000">
                <a:solidFill>
                  <a:srgbClr val="CBD5E1"/>
                </a:solidFill>
              </a:rPr>
              <a:t>Closed-loop automated sorting loop 100% verified</a:t>
            </a:r>
          </a:p>
        </p:txBody>
      </p:sp>
      <p:sp>
        <p:nvSpPr>
          <p:cNvPr id="7" name="Rounded Rectangle 6"/>
          <p:cNvSpPr/>
          <p:nvPr/>
        </p:nvSpPr>
        <p:spPr>
          <a:xfrm>
            <a:off x="6217920" y="3291840"/>
            <a:ext cx="5029200" cy="292608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46520" y="3474720"/>
            <a:ext cx="4572000" cy="2560320"/>
          </a:xfrm>
          <a:prstGeom prst="rect">
            <a:avLst/>
          </a:prstGeom>
          <a:noFill/>
        </p:spPr>
        <p:txBody>
          <a:bodyPr wrap="square">
            <a:spAutoFit/>
          </a:bodyPr>
          <a:lstStyle/>
          <a:p>
            <a:pPr>
              <a:spcAft>
                <a:spcPts val="800"/>
              </a:spcAft>
              <a:defRPr sz="1200" b="1">
                <a:solidFill>
                  <a:srgbClr val="059669"/>
                </a:solidFill>
              </a:defRPr>
            </a:pPr>
            <a:r>
              <a:t>VERIFIED WORKCELL HIGHLIGHTS</a:t>
            </a:r>
          </a:p>
          <a:p>
            <a:pPr>
              <a:spcAft>
                <a:spcPts val="400"/>
              </a:spcAft>
            </a:pPr>
            <a:r>
              <a:rPr b="1" sz="1000">
                <a:solidFill>
                  <a:srgbClr val="059669"/>
                </a:solidFill>
              </a:rPr>
              <a:t>✔ 6-DOF UR10e Execution: </a:t>
            </a:r>
            <a:r>
              <a:rPr sz="950">
                <a:solidFill>
                  <a:srgbClr val="CBD5E1"/>
                </a:solidFill>
              </a:rPr>
              <a:t>
  50 Hz /joint_states streaming via ROS-TCP bridge</a:t>
            </a:r>
          </a:p>
          <a:p>
            <a:pPr>
              <a:spcAft>
                <a:spcPts val="400"/>
              </a:spcAft>
            </a:pPr>
            <a:r>
              <a:rPr b="1" sz="1000">
                <a:solidFill>
                  <a:srgbClr val="059669"/>
                </a:solidFill>
              </a:rPr>
              <a:t>✔ Grasping Mechanism: </a:t>
            </a:r>
            <a:r>
              <a:rPr sz="950">
                <a:solidFill>
                  <a:srgbClr val="CBD5E1"/>
                </a:solidFill>
              </a:rPr>
              <a:t>
  Industrial Attach/Parenting logic in tool0</a:t>
            </a:r>
          </a:p>
          <a:p>
            <a:pPr>
              <a:spcAft>
                <a:spcPts val="400"/>
              </a:spcAft>
            </a:pPr>
            <a:r>
              <a:rPr b="1" sz="1000">
                <a:solidFill>
                  <a:srgbClr val="059669"/>
                </a:solidFill>
              </a:rPr>
              <a:t>✔ Task State Machine: </a:t>
            </a:r>
            <a:r>
              <a:rPr sz="950">
                <a:solidFill>
                  <a:srgbClr val="CBD5E1"/>
                </a:solidFill>
              </a:rPr>
              <a:t>
  Autonomous 7-step sequencer with zero human input</a:t>
            </a:r>
          </a:p>
          <a:p>
            <a:pPr>
              <a:spcAft>
                <a:spcPts val="400"/>
              </a:spcAft>
            </a:pPr>
            <a:r>
              <a:rPr b="1" sz="1000">
                <a:solidFill>
                  <a:srgbClr val="059669"/>
                </a:solidFill>
              </a:rPr>
              <a:t>✔ Physics Fidelity: </a:t>
            </a:r>
            <a:r>
              <a:rPr sz="950">
                <a:solidFill>
                  <a:srgbClr val="CBD5E1"/>
                </a:solidFill>
              </a:rPr>
              <a:t>
  Friction coasting stop (zero teleportation)</a:t>
            </a:r>
          </a:p>
          <a:p>
            <a:pPr>
              <a:spcAft>
                <a:spcPts val="400"/>
              </a:spcAft>
            </a:pPr>
            <a:r>
              <a:rPr b="1" sz="1000">
                <a:solidFill>
                  <a:srgbClr val="059669"/>
                </a:solidFill>
              </a:rPr>
              <a:t>✔ Quality Assurance: </a:t>
            </a:r>
            <a:r>
              <a:rPr sz="950">
                <a:solidFill>
                  <a:srgbClr val="CBD5E1"/>
                </a:solidFill>
              </a:rPr>
              <a:t>
  70 consecutive verified trials with 100% success rate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9144000" cy="274320"/>
          </a:xfrm>
          <a:prstGeom prst="rect">
            <a:avLst/>
          </a:prstGeom>
          <a:noFill/>
        </p:spPr>
        <p:txBody>
          <a:bodyPr wrap="square" lIns="0" rIns="0" tIns="0" bIns="0">
            <a:spAutoFit/>
          </a:bodyPr>
          <a:lstStyle/>
          <a:p>
            <a:pPr>
              <a:defRPr sz="1000" b="1">
                <a:solidFill>
                  <a:srgbClr val="0284C7"/>
                </a:solidFill>
              </a:defRPr>
            </a:pPr>
            <a:r>
              <a:t>OVERVIEW</a:t>
            </a:r>
          </a:p>
        </p:txBody>
      </p:sp>
      <p:sp>
        <p:nvSpPr>
          <p:cNvPr id="3" name="TextBox 2"/>
          <p:cNvSpPr txBox="1"/>
          <p:nvPr/>
        </p:nvSpPr>
        <p:spPr>
          <a:xfrm>
            <a:off x="731520" y="621792"/>
            <a:ext cx="10515600" cy="548640"/>
          </a:xfrm>
          <a:prstGeom prst="rect">
            <a:avLst/>
          </a:prstGeom>
          <a:noFill/>
        </p:spPr>
        <p:txBody>
          <a:bodyPr wrap="square" lIns="0" rIns="0" tIns="0" bIns="0">
            <a:spAutoFit/>
          </a:bodyPr>
          <a:lstStyle/>
          <a:p>
            <a:pPr>
              <a:defRPr sz="2000" b="1">
                <a:solidFill>
                  <a:srgbClr val="0F2B48"/>
                </a:solidFill>
              </a:defRPr>
            </a:pPr>
            <a:r>
              <a:t>Presentation Agenda and Engineering Milestones</a:t>
            </a:r>
          </a:p>
        </p:txBody>
      </p:sp>
      <p:sp>
        <p:nvSpPr>
          <p:cNvPr id="4" name="Rectangle 3"/>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6309360"/>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82512"/>
            <a:ext cx="8686800" cy="274320"/>
          </a:xfrm>
          <a:prstGeom prst="rect">
            <a:avLst/>
          </a:prstGeom>
          <a:noFill/>
        </p:spPr>
        <p:txBody>
          <a:bodyPr wrap="none" lIns="0" rIns="0" tIns="0" bIns="0">
            <a:spAutoFit/>
          </a:bodyPr>
          <a:lstStyle/>
          <a:p>
            <a:pPr>
              <a:defRPr sz="900">
                <a:solidFill>
                  <a:srgbClr val="64748B"/>
                </a:solidFill>
              </a:defRPr>
            </a:pPr>
            <a:r>
              <a:t>UC8: Robotic Arm Conveyor Pick-and-Place with Obstacle Avoidance | VGU Robotic Project (Week 04)</a:t>
            </a:r>
          </a:p>
        </p:txBody>
      </p:sp>
      <p:sp>
        <p:nvSpPr>
          <p:cNvPr id="7" name="TextBox 6"/>
          <p:cNvSpPr txBox="1"/>
          <p:nvPr/>
        </p:nvSpPr>
        <p:spPr>
          <a:xfrm>
            <a:off x="10058400" y="6382512"/>
            <a:ext cx="1401775" cy="274320"/>
          </a:xfrm>
          <a:prstGeom prst="rect">
            <a:avLst/>
          </a:prstGeom>
          <a:noFill/>
        </p:spPr>
        <p:txBody>
          <a:bodyPr wrap="none" lIns="0" rIns="0" tIns="0" bIns="0">
            <a:spAutoFit/>
          </a:bodyPr>
          <a:lstStyle/>
          <a:p>
            <a:pPr algn="r">
              <a:defRPr sz="900" b="1">
                <a:solidFill>
                  <a:srgbClr val="0284C7"/>
                </a:solidFill>
              </a:defRPr>
            </a:pPr>
            <a:r>
              <a:t>Slide 02</a:t>
            </a:r>
          </a:p>
        </p:txBody>
      </p:sp>
      <p:graphicFrame>
        <p:nvGraphicFramePr>
          <p:cNvPr id="8" name="Table 7"/>
          <p:cNvGraphicFramePr>
            <a:graphicFrameLocks noGrp="1"/>
          </p:cNvGraphicFramePr>
          <p:nvPr/>
        </p:nvGraphicFramePr>
        <p:xfrm>
          <a:off x="731520" y="1463040"/>
          <a:ext cx="10728655" cy="3931920"/>
        </p:xfrm>
        <a:graphic>
          <a:graphicData uri="http://schemas.openxmlformats.org/drawingml/2006/table">
            <a:tbl>
              <a:tblPr firstRow="1" bandRow="1">
                <a:tableStyleId>{5C22544A-7EE6-4342-B048-85BDC9FD1C3A}</a:tableStyleId>
              </a:tblPr>
              <a:tblGrid>
                <a:gridCol w="914400"/>
                <a:gridCol w="3474720"/>
                <a:gridCol w="6339535"/>
              </a:tblGrid>
              <a:tr h="561702">
                <a:tc>
                  <a:txBody>
                    <a:bodyPr/>
                    <a:lstStyle/>
                    <a:p>
                      <a:pPr>
                        <a:defRPr sz="1100" b="1">
                          <a:solidFill>
                            <a:srgbClr val="F1F5F9"/>
                          </a:solidFill>
                        </a:defRPr>
                      </a:pPr>
                      <a:r>
                        <a:t>No.</a:t>
                      </a:r>
                    </a:p>
                  </a:txBody>
                  <a:tcPr anchor="ctr" marL="109728" marR="109728">
                    <a:solidFill>
                      <a:srgbClr val="0F2B48"/>
                    </a:solidFill>
                  </a:tcPr>
                </a:tc>
                <a:tc>
                  <a:txBody>
                    <a:bodyPr/>
                    <a:lstStyle/>
                    <a:p>
                      <a:pPr>
                        <a:defRPr sz="1100" b="1">
                          <a:solidFill>
                            <a:srgbClr val="F1F5F9"/>
                          </a:solidFill>
                        </a:defRPr>
                      </a:pPr>
                      <a:r>
                        <a:t>Topic</a:t>
                      </a:r>
                    </a:p>
                  </a:txBody>
                  <a:tcPr anchor="ctr" marL="109728" marR="109728">
                    <a:solidFill>
                      <a:srgbClr val="0F2B48"/>
                    </a:solidFill>
                  </a:tcPr>
                </a:tc>
                <a:tc>
                  <a:txBody>
                    <a:bodyPr/>
                    <a:lstStyle/>
                    <a:p>
                      <a:pPr>
                        <a:defRPr sz="1100" b="1">
                          <a:solidFill>
                            <a:srgbClr val="F1F5F9"/>
                          </a:solidFill>
                        </a:defRPr>
                      </a:pPr>
                      <a:r>
                        <a:t>Focus</a:t>
                      </a:r>
                    </a:p>
                  </a:txBody>
                  <a:tcPr anchor="ctr" marL="109728" marR="109728">
                    <a:solidFill>
                      <a:srgbClr val="0F2B48"/>
                    </a:solidFill>
                  </a:tcPr>
                </a:tc>
              </a:tr>
              <a:tr h="561702">
                <a:tc>
                  <a:txBody>
                    <a:bodyPr/>
                    <a:lstStyle/>
                    <a:p>
                      <a:pPr>
                        <a:defRPr sz="1000" b="1">
                          <a:solidFill>
                            <a:srgbClr val="1E293B"/>
                          </a:solidFill>
                        </a:defRPr>
                      </a:pPr>
                      <a:r>
                        <a:t>01</a:t>
                      </a:r>
                    </a:p>
                  </a:txBody>
                  <a:tcPr anchor="ctr" marL="109728" marR="109728">
                    <a:solidFill>
                      <a:srgbClr val="FFFFFF"/>
                    </a:solidFill>
                  </a:tcPr>
                </a:tc>
                <a:tc>
                  <a:txBody>
                    <a:bodyPr/>
                    <a:lstStyle/>
                    <a:p>
                      <a:pPr>
                        <a:defRPr sz="1000">
                          <a:solidFill>
                            <a:srgbClr val="1E293B"/>
                          </a:solidFill>
                        </a:defRPr>
                      </a:pPr>
                      <a:r>
                        <a:t>Foundation</a:t>
                      </a:r>
                    </a:p>
                  </a:txBody>
                  <a:tcPr anchor="ctr" marL="109728" marR="109728">
                    <a:solidFill>
                      <a:srgbClr val="FFFFFF"/>
                    </a:solidFill>
                  </a:tcPr>
                </a:tc>
                <a:tc>
                  <a:txBody>
                    <a:bodyPr/>
                    <a:lstStyle/>
                    <a:p>
                      <a:pPr>
                        <a:defRPr sz="1000">
                          <a:solidFill>
                            <a:srgbClr val="1E293B"/>
                          </a:solidFill>
                        </a:defRPr>
                      </a:pPr>
                      <a:r>
                        <a:t>Week 03 baseline and Week 04 commitments</a:t>
                      </a:r>
                    </a:p>
                  </a:txBody>
                  <a:tcPr anchor="ctr" marL="109728" marR="109728">
                    <a:solidFill>
                      <a:srgbClr val="FFFFFF"/>
                    </a:solidFill>
                  </a:tcPr>
                </a:tc>
              </a:tr>
              <a:tr h="561702">
                <a:tc>
                  <a:txBody>
                    <a:bodyPr/>
                    <a:lstStyle/>
                    <a:p>
                      <a:pPr>
                        <a:defRPr sz="1000" b="1">
                          <a:solidFill>
                            <a:srgbClr val="1E293B"/>
                          </a:solidFill>
                        </a:defRPr>
                      </a:pPr>
                      <a:r>
                        <a:t>02</a:t>
                      </a:r>
                    </a:p>
                  </a:txBody>
                  <a:tcPr anchor="ctr" marL="109728" marR="109728">
                    <a:solidFill>
                      <a:srgbClr val="F1F5F9"/>
                    </a:solidFill>
                  </a:tcPr>
                </a:tc>
                <a:tc>
                  <a:txBody>
                    <a:bodyPr/>
                    <a:lstStyle/>
                    <a:p>
                      <a:pPr>
                        <a:defRPr sz="1000">
                          <a:solidFill>
                            <a:srgbClr val="1E293B"/>
                          </a:solidFill>
                        </a:defRPr>
                      </a:pPr>
                      <a:r>
                        <a:t>System design</a:t>
                      </a:r>
                    </a:p>
                  </a:txBody>
                  <a:tcPr anchor="ctr" marL="109728" marR="109728">
                    <a:solidFill>
                      <a:srgbClr val="F1F5F9"/>
                    </a:solidFill>
                  </a:tcPr>
                </a:tc>
                <a:tc>
                  <a:txBody>
                    <a:bodyPr/>
                    <a:lstStyle/>
                    <a:p>
                      <a:pPr>
                        <a:defRPr sz="1000">
                          <a:solidFill>
                            <a:srgbClr val="1E293B"/>
                          </a:solidFill>
                        </a:defRPr>
                      </a:pPr>
                      <a:r>
                        <a:t>ROS-Unity architecture, frames and data flow</a:t>
                      </a:r>
                    </a:p>
                  </a:txBody>
                  <a:tcPr anchor="ctr" marL="109728" marR="109728">
                    <a:solidFill>
                      <a:srgbClr val="F1F5F9"/>
                    </a:solidFill>
                  </a:tcPr>
                </a:tc>
              </a:tr>
              <a:tr h="561702">
                <a:tc>
                  <a:txBody>
                    <a:bodyPr/>
                    <a:lstStyle/>
                    <a:p>
                      <a:pPr>
                        <a:defRPr sz="1000" b="1">
                          <a:solidFill>
                            <a:srgbClr val="1E293B"/>
                          </a:solidFill>
                        </a:defRPr>
                      </a:pPr>
                      <a:r>
                        <a:t>03</a:t>
                      </a:r>
                    </a:p>
                  </a:txBody>
                  <a:tcPr anchor="ctr" marL="109728" marR="109728">
                    <a:solidFill>
                      <a:srgbClr val="FFFFFF"/>
                    </a:solidFill>
                  </a:tcPr>
                </a:tc>
                <a:tc>
                  <a:txBody>
                    <a:bodyPr/>
                    <a:lstStyle/>
                    <a:p>
                      <a:pPr>
                        <a:defRPr sz="1000">
                          <a:solidFill>
                            <a:srgbClr val="1E293B"/>
                          </a:solidFill>
                        </a:defRPr>
                      </a:pPr>
                      <a:r>
                        <a:t>Workcell execution</a:t>
                      </a:r>
                    </a:p>
                  </a:txBody>
                  <a:tcPr anchor="ctr" marL="109728" marR="109728">
                    <a:solidFill>
                      <a:srgbClr val="FFFFFF"/>
                    </a:solidFill>
                  </a:tcPr>
                </a:tc>
                <a:tc>
                  <a:txBody>
                    <a:bodyPr/>
                    <a:lstStyle/>
                    <a:p>
                      <a:pPr>
                        <a:defRPr sz="1000">
                          <a:solidFill>
                            <a:srgbClr val="1E293B"/>
                          </a:solidFill>
                        </a:defRPr>
                      </a:pPr>
                      <a:r>
                        <a:t>Layout, kinematics and conveyor physics</a:t>
                      </a:r>
                    </a:p>
                  </a:txBody>
                  <a:tcPr anchor="ctr" marL="109728" marR="109728">
                    <a:solidFill>
                      <a:srgbClr val="FFFFFF"/>
                    </a:solidFill>
                  </a:tcPr>
                </a:tc>
              </a:tr>
              <a:tr h="561702">
                <a:tc>
                  <a:txBody>
                    <a:bodyPr/>
                    <a:lstStyle/>
                    <a:p>
                      <a:pPr>
                        <a:defRPr sz="1000" b="1">
                          <a:solidFill>
                            <a:srgbClr val="1E293B"/>
                          </a:solidFill>
                        </a:defRPr>
                      </a:pPr>
                      <a:r>
                        <a:t>04</a:t>
                      </a:r>
                    </a:p>
                  </a:txBody>
                  <a:tcPr anchor="ctr" marL="109728" marR="109728">
                    <a:solidFill>
                      <a:srgbClr val="F1F5F9"/>
                    </a:solidFill>
                  </a:tcPr>
                </a:tc>
                <a:tc>
                  <a:txBody>
                    <a:bodyPr/>
                    <a:lstStyle/>
                    <a:p>
                      <a:pPr>
                        <a:defRPr sz="1000">
                          <a:solidFill>
                            <a:srgbClr val="1E293B"/>
                          </a:solidFill>
                        </a:defRPr>
                      </a:pPr>
                      <a:r>
                        <a:t>Automation</a:t>
                      </a:r>
                    </a:p>
                  </a:txBody>
                  <a:tcPr anchor="ctr" marL="109728" marR="109728">
                    <a:solidFill>
                      <a:srgbClr val="F1F5F9"/>
                    </a:solidFill>
                  </a:tcPr>
                </a:tc>
                <a:tc>
                  <a:txBody>
                    <a:bodyPr/>
                    <a:lstStyle/>
                    <a:p>
                      <a:pPr>
                        <a:defRPr sz="1000">
                          <a:solidFill>
                            <a:srgbClr val="1E293B"/>
                          </a:solidFill>
                        </a:defRPr>
                      </a:pPr>
                      <a:r>
                        <a:t>Task states, grasping and bin sorting</a:t>
                      </a:r>
                    </a:p>
                  </a:txBody>
                  <a:tcPr anchor="ctr" marL="109728" marR="109728">
                    <a:solidFill>
                      <a:srgbClr val="F1F5F9"/>
                    </a:solidFill>
                  </a:tcPr>
                </a:tc>
              </a:tr>
              <a:tr h="561702">
                <a:tc>
                  <a:txBody>
                    <a:bodyPr/>
                    <a:lstStyle/>
                    <a:p>
                      <a:pPr>
                        <a:defRPr sz="1000" b="1">
                          <a:solidFill>
                            <a:srgbClr val="1E293B"/>
                          </a:solidFill>
                        </a:defRPr>
                      </a:pPr>
                      <a:r>
                        <a:t>05</a:t>
                      </a:r>
                    </a:p>
                  </a:txBody>
                  <a:tcPr anchor="ctr" marL="109728" marR="109728">
                    <a:solidFill>
                      <a:srgbClr val="FFFFFF"/>
                    </a:solidFill>
                  </a:tcPr>
                </a:tc>
                <a:tc>
                  <a:txBody>
                    <a:bodyPr/>
                    <a:lstStyle/>
                    <a:p>
                      <a:pPr>
                        <a:defRPr sz="1000">
                          <a:solidFill>
                            <a:srgbClr val="1E293B"/>
                          </a:solidFill>
                        </a:defRPr>
                      </a:pPr>
                      <a:r>
                        <a:t>Evidence</a:t>
                      </a:r>
                    </a:p>
                  </a:txBody>
                  <a:tcPr anchor="ctr" marL="109728" marR="109728">
                    <a:solidFill>
                      <a:srgbClr val="FFFFFF"/>
                    </a:solidFill>
                  </a:tcPr>
                </a:tc>
                <a:tc>
                  <a:txBody>
                    <a:bodyPr/>
                    <a:lstStyle/>
                    <a:p>
                      <a:pPr>
                        <a:defRPr sz="1000">
                          <a:solidFill>
                            <a:srgbClr val="1E293B"/>
                          </a:solidFill>
                        </a:defRPr>
                      </a:pPr>
                      <a:r>
                        <a:t>Benchmark results and live demonstration</a:t>
                      </a:r>
                    </a:p>
                  </a:txBody>
                  <a:tcPr anchor="ctr" marL="109728" marR="109728">
                    <a:solidFill>
                      <a:srgbClr val="FFFFFF"/>
                    </a:solidFill>
                  </a:tcPr>
                </a:tc>
              </a:tr>
              <a:tr h="561708">
                <a:tc>
                  <a:txBody>
                    <a:bodyPr/>
                    <a:lstStyle/>
                    <a:p>
                      <a:pPr>
                        <a:defRPr sz="1000" b="1">
                          <a:solidFill>
                            <a:srgbClr val="1E293B"/>
                          </a:solidFill>
                        </a:defRPr>
                      </a:pPr>
                      <a:r>
                        <a:t>06</a:t>
                      </a:r>
                    </a:p>
                  </a:txBody>
                  <a:tcPr anchor="ctr" marL="109728" marR="109728">
                    <a:solidFill>
                      <a:srgbClr val="F1F5F9"/>
                    </a:solidFill>
                  </a:tcPr>
                </a:tc>
                <a:tc>
                  <a:txBody>
                    <a:bodyPr/>
                    <a:lstStyle/>
                    <a:p>
                      <a:pPr>
                        <a:defRPr sz="1000">
                          <a:solidFill>
                            <a:srgbClr val="1E293B"/>
                          </a:solidFill>
                        </a:defRPr>
                      </a:pPr>
                      <a:r>
                        <a:t>Next milestone</a:t>
                      </a:r>
                    </a:p>
                  </a:txBody>
                  <a:tcPr anchor="ctr" marL="109728" marR="109728">
                    <a:solidFill>
                      <a:srgbClr val="F1F5F9"/>
                    </a:solidFill>
                  </a:tcPr>
                </a:tc>
                <a:tc>
                  <a:txBody>
                    <a:bodyPr/>
                    <a:lstStyle/>
                    <a:p>
                      <a:pPr>
                        <a:defRPr sz="1000">
                          <a:solidFill>
                            <a:srgbClr val="1E293B"/>
                          </a:solidFill>
                        </a:defRPr>
                      </a:pPr>
                      <a:r>
                        <a:t>Week 05 stabilization and M1 submission</a:t>
                      </a:r>
                    </a:p>
                  </a:txBody>
                  <a:tcPr anchor="ctr" marL="109728" marR="109728">
                    <a:solidFill>
                      <a:srgbClr val="F1F5F9"/>
                    </a:solidFill>
                  </a:tcPr>
                </a:tc>
              </a:tr>
            </a:tbl>
          </a:graphicData>
        </a:graphic>
      </p:graphicFrame>
      <p:sp>
        <p:nvSpPr>
          <p:cNvPr id="9" name="Rounded Rectangle 8"/>
          <p:cNvSpPr/>
          <p:nvPr/>
        </p:nvSpPr>
        <p:spPr>
          <a:xfrm>
            <a:off x="731520" y="5532120"/>
            <a:ext cx="10728655" cy="658368"/>
          </a:xfrm>
          <a:prstGeom prst="roundRect">
            <a:avLst/>
          </a:prstGeom>
          <a:solidFill>
            <a:srgbClr val="F0F9FF"/>
          </a:solidFill>
          <a:ln w="19050">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5596128"/>
            <a:ext cx="10362895" cy="530352"/>
          </a:xfrm>
          <a:prstGeom prst="rect">
            <a:avLst/>
          </a:prstGeom>
          <a:noFill/>
        </p:spPr>
        <p:txBody>
          <a:bodyPr wrap="square">
            <a:spAutoFit/>
          </a:bodyPr>
          <a:lstStyle/>
          <a:p>
            <a:pPr>
              <a:defRPr sz="1050" b="1">
                <a:solidFill>
                  <a:srgbClr val="0F2B48"/>
                </a:solidFill>
              </a:defRPr>
            </a:pPr>
            <a:r>
              <a:t>Core Engineering Transition: Evolution from Week 3's theoretical 'plan-only' pipeline into Week 4's verified physical trajectory execution, grasping, and multi-bin sorting.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9144000" cy="274320"/>
          </a:xfrm>
          <a:prstGeom prst="rect">
            <a:avLst/>
          </a:prstGeom>
          <a:noFill/>
        </p:spPr>
        <p:txBody>
          <a:bodyPr wrap="square" lIns="0" rIns="0" tIns="0" bIns="0">
            <a:spAutoFit/>
          </a:bodyPr>
          <a:lstStyle/>
          <a:p>
            <a:pPr>
              <a:defRPr sz="1000" b="1">
                <a:solidFill>
                  <a:srgbClr val="0284C7"/>
                </a:solidFill>
              </a:defRPr>
            </a:pPr>
            <a:r>
              <a:t>FOUNDATION</a:t>
            </a:r>
          </a:p>
        </p:txBody>
      </p:sp>
      <p:sp>
        <p:nvSpPr>
          <p:cNvPr id="3" name="TextBox 2"/>
          <p:cNvSpPr txBox="1"/>
          <p:nvPr/>
        </p:nvSpPr>
        <p:spPr>
          <a:xfrm>
            <a:off x="731520" y="621792"/>
            <a:ext cx="10515600" cy="548640"/>
          </a:xfrm>
          <a:prstGeom prst="rect">
            <a:avLst/>
          </a:prstGeom>
          <a:noFill/>
        </p:spPr>
        <p:txBody>
          <a:bodyPr wrap="square" lIns="0" rIns="0" tIns="0" bIns="0">
            <a:spAutoFit/>
          </a:bodyPr>
          <a:lstStyle/>
          <a:p>
            <a:pPr>
              <a:defRPr sz="2000" b="1">
                <a:solidFill>
                  <a:srgbClr val="0F2B48"/>
                </a:solidFill>
              </a:defRPr>
            </a:pPr>
            <a:r>
              <a:t>Week 03 Baseline and Commitments for Week 04</a:t>
            </a:r>
          </a:p>
        </p:txBody>
      </p:sp>
      <p:sp>
        <p:nvSpPr>
          <p:cNvPr id="4" name="Rectangle 3"/>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6309360"/>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82512"/>
            <a:ext cx="8686800" cy="274320"/>
          </a:xfrm>
          <a:prstGeom prst="rect">
            <a:avLst/>
          </a:prstGeom>
          <a:noFill/>
        </p:spPr>
        <p:txBody>
          <a:bodyPr wrap="none" lIns="0" rIns="0" tIns="0" bIns="0">
            <a:spAutoFit/>
          </a:bodyPr>
          <a:lstStyle/>
          <a:p>
            <a:pPr>
              <a:defRPr sz="900">
                <a:solidFill>
                  <a:srgbClr val="64748B"/>
                </a:solidFill>
              </a:defRPr>
            </a:pPr>
            <a:r>
              <a:t>UC8: Robotic Arm Conveyor Pick-and-Place with Obstacle Avoidance | VGU Robotic Project (Week 04)</a:t>
            </a:r>
          </a:p>
        </p:txBody>
      </p:sp>
      <p:sp>
        <p:nvSpPr>
          <p:cNvPr id="7" name="TextBox 6"/>
          <p:cNvSpPr txBox="1"/>
          <p:nvPr/>
        </p:nvSpPr>
        <p:spPr>
          <a:xfrm>
            <a:off x="10058400" y="6382512"/>
            <a:ext cx="1401775" cy="274320"/>
          </a:xfrm>
          <a:prstGeom prst="rect">
            <a:avLst/>
          </a:prstGeom>
          <a:noFill/>
        </p:spPr>
        <p:txBody>
          <a:bodyPr wrap="none" lIns="0" rIns="0" tIns="0" bIns="0">
            <a:spAutoFit/>
          </a:bodyPr>
          <a:lstStyle/>
          <a:p>
            <a:pPr algn="r">
              <a:defRPr sz="900" b="1">
                <a:solidFill>
                  <a:srgbClr val="0284C7"/>
                </a:solidFill>
              </a:defRPr>
            </a:pPr>
            <a:r>
              <a:t>Slide 03</a:t>
            </a:r>
          </a:p>
        </p:txBody>
      </p:sp>
      <p:sp>
        <p:nvSpPr>
          <p:cNvPr id="8" name="Rounded Rectangle 7"/>
          <p:cNvSpPr/>
          <p:nvPr/>
        </p:nvSpPr>
        <p:spPr>
          <a:xfrm>
            <a:off x="731520" y="1463040"/>
            <a:ext cx="5212080" cy="45720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645920"/>
            <a:ext cx="4846320" cy="4206240"/>
          </a:xfrm>
          <a:prstGeom prst="rect">
            <a:avLst/>
          </a:prstGeom>
          <a:noFill/>
        </p:spPr>
        <p:txBody>
          <a:bodyPr wrap="square">
            <a:spAutoFit/>
          </a:bodyPr>
          <a:lstStyle/>
          <a:p>
            <a:pPr>
              <a:spcAft>
                <a:spcPts val="1000"/>
              </a:spcAft>
              <a:defRPr sz="1300" b="1">
                <a:solidFill>
                  <a:srgbClr val="059669"/>
                </a:solidFill>
              </a:defRPr>
            </a:pPr>
            <a:r>
              <a:t>Baseline Achieved in Week 03</a:t>
            </a:r>
          </a:p>
          <a:p>
            <a:pPr>
              <a:spcAft>
                <a:spcPts val="800"/>
              </a:spcAft>
            </a:pPr>
            <a:r>
              <a:rPr b="1" sz="1050">
                <a:solidFill>
                  <a:srgbClr val="0F2B48"/>
                </a:solidFill>
              </a:rPr>
              <a:t>✔ ROS-Unity bridge: </a:t>
            </a:r>
            <a:r>
              <a:rPr sz="1000">
                <a:solidFill>
                  <a:srgbClr val="1E293B"/>
                </a:solidFill>
              </a:rPr>
              <a:t>TCP communication available on port 10000 via ros_tcp_endpoint.</a:t>
            </a:r>
          </a:p>
          <a:p>
            <a:pPr>
              <a:spcAft>
                <a:spcPts val="800"/>
              </a:spcAft>
            </a:pPr>
            <a:r>
              <a:rPr b="1" sz="1050">
                <a:solidFill>
                  <a:srgbClr val="0F2B48"/>
                </a:solidFill>
              </a:rPr>
              <a:t>✔ Coordinate conversion: </a:t>
            </a:r>
            <a:r>
              <a:rPr sz="1000">
                <a:solidFill>
                  <a:srgbClr val="1E293B"/>
                </a:solidFill>
              </a:rPr>
              <a:t>Unity coordinates mapped to the ROS FLU convention:
  X_ROS = Z_Unity | Y_ROS = -X_Unity | Z_ROS = Y_Unity</a:t>
            </a:r>
          </a:p>
          <a:p>
            <a:pPr>
              <a:spcAft>
                <a:spcPts val="800"/>
              </a:spcAft>
            </a:pPr>
            <a:r>
              <a:rPr b="1" sz="1050">
                <a:solidFill>
                  <a:srgbClr val="0F2B48"/>
                </a:solidFill>
              </a:rPr>
              <a:t>✔ Object topics: </a:t>
            </a:r>
            <a:r>
              <a:rPr sz="1000">
                <a:solidFill>
                  <a:srgbClr val="1E293B"/>
                </a:solidFill>
              </a:rPr>
              <a:t>/detected_object_pose (Pose) and /detected_object_type (String) published at 10 Hz.</a:t>
            </a:r>
          </a:p>
          <a:p>
            <a:pPr>
              <a:spcAft>
                <a:spcPts val="800"/>
              </a:spcAft>
            </a:pPr>
            <a:r>
              <a:rPr b="1" sz="1050">
                <a:solidFill>
                  <a:srgbClr val="0F2B48"/>
                </a:solidFill>
              </a:rPr>
              <a:t>✔ MoveIt planning: </a:t>
            </a:r>
            <a:r>
              <a:rPr sz="1000">
                <a:solidFill>
                  <a:srgbClr val="1E293B"/>
                </a:solidFill>
              </a:rPr>
              <a:t>Pre-grasp feasibility verified in RViz (+15cm hover pose above detected cube base).</a:t>
            </a:r>
          </a:p>
        </p:txBody>
      </p:sp>
      <p:sp>
        <p:nvSpPr>
          <p:cNvPr id="10" name="Rounded Rectangle 9"/>
          <p:cNvSpPr/>
          <p:nvPr/>
        </p:nvSpPr>
        <p:spPr>
          <a:xfrm>
            <a:off x="6217920" y="1463040"/>
            <a:ext cx="5212080" cy="45720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0" y="1645920"/>
            <a:ext cx="4846320" cy="4206240"/>
          </a:xfrm>
          <a:prstGeom prst="rect">
            <a:avLst/>
          </a:prstGeom>
          <a:noFill/>
        </p:spPr>
        <p:txBody>
          <a:bodyPr wrap="square">
            <a:spAutoFit/>
          </a:bodyPr>
          <a:lstStyle/>
          <a:p>
            <a:pPr>
              <a:spcAft>
                <a:spcPts val="1000"/>
              </a:spcAft>
              <a:defRPr sz="1300" b="1">
                <a:solidFill>
                  <a:srgbClr val="0F2B48"/>
                </a:solidFill>
              </a:defRPr>
            </a:pPr>
            <a:r>
              <a:t>Commitments Set Out for Week 04</a:t>
            </a:r>
          </a:p>
          <a:p>
            <a:pPr>
              <a:spcAft>
                <a:spcPts val="800"/>
              </a:spcAft>
            </a:pPr>
            <a:r>
              <a:rPr b="1" sz="1050">
                <a:solidFill>
                  <a:srgbClr val="0284C7"/>
                </a:solidFill>
              </a:rPr>
              <a:t>🎯 Trajectory execution: </a:t>
            </a:r>
            <a:r>
              <a:rPr sz="1000">
                <a:solidFill>
                  <a:srgbClr val="1E293B"/>
                </a:solidFill>
              </a:rPr>
              <a:t>Overcome 'plan-only' barrier; stream real-time joint-states to drive physical UR10e in Unity.</a:t>
            </a:r>
          </a:p>
          <a:p>
            <a:pPr>
              <a:spcAft>
                <a:spcPts val="800"/>
              </a:spcAft>
            </a:pPr>
            <a:r>
              <a:rPr b="1" sz="1050">
                <a:solidFill>
                  <a:srgbClr val="0284C7"/>
                </a:solidFill>
              </a:rPr>
              <a:t>🎯 Grasping mechanism: </a:t>
            </a:r>
            <a:r>
              <a:rPr sz="1000">
                <a:solidFill>
                  <a:srgbClr val="1E293B"/>
                </a:solidFill>
              </a:rPr>
              <a:t>Implement attach/parenting logic linking target cube to tool0 upon arrival.</a:t>
            </a:r>
          </a:p>
          <a:p>
            <a:pPr>
              <a:spcAft>
                <a:spcPts val="800"/>
              </a:spcAft>
            </a:pPr>
            <a:r>
              <a:rPr b="1" sz="1050">
                <a:solidFill>
                  <a:srgbClr val="0284C7"/>
                </a:solidFill>
              </a:rPr>
              <a:t>🎯 Task controller: </a:t>
            </a:r>
            <a:r>
              <a:rPr sz="1000">
                <a:solidFill>
                  <a:srgbClr val="1E293B"/>
                </a:solidFill>
              </a:rPr>
              <a:t>Construct autonomous closed-loop sequencer connecting perception, motion, and release.</a:t>
            </a:r>
          </a:p>
          <a:p>
            <a:pPr>
              <a:spcAft>
                <a:spcPts val="800"/>
              </a:spcAft>
            </a:pPr>
            <a:r>
              <a:rPr b="1" sz="1050">
                <a:solidFill>
                  <a:srgbClr val="0284C7"/>
                </a:solidFill>
              </a:rPr>
              <a:t>🎯 Multi-bin sorting: </a:t>
            </a:r>
            <a:r>
              <a:rPr sz="1000">
                <a:solidFill>
                  <a:srgbClr val="1E293B"/>
                </a:solidFill>
              </a:rPr>
              <a:t>Route red, yellow, and blue cubes to dedicated destination bins without collision.</a:t>
            </a:r>
          </a:p>
          <a:p>
            <a:pPr>
              <a:spcAft>
                <a:spcPts val="800"/>
              </a:spcAft>
            </a:pPr>
            <a:r>
              <a:rPr b="1" sz="1050">
                <a:solidFill>
                  <a:srgbClr val="0284C7"/>
                </a:solidFill>
              </a:rPr>
              <a:t>🎯 Milestone 1 Context: </a:t>
            </a:r>
            <a:r>
              <a:rPr sz="1000">
                <a:solidFill>
                  <a:srgbClr val="1E293B"/>
                </a:solidFill>
              </a:rPr>
              <a:t>Fulfilling 100% of these commitments in Week 04 is the prerequisite for formal M1 evaluation in Week 05.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9144000" cy="274320"/>
          </a:xfrm>
          <a:prstGeom prst="rect">
            <a:avLst/>
          </a:prstGeom>
          <a:noFill/>
        </p:spPr>
        <p:txBody>
          <a:bodyPr wrap="square" lIns="0" rIns="0" tIns="0" bIns="0">
            <a:spAutoFit/>
          </a:bodyPr>
          <a:lstStyle/>
          <a:p>
            <a:pPr>
              <a:defRPr sz="1000" b="1">
                <a:solidFill>
                  <a:srgbClr val="0284C7"/>
                </a:solidFill>
              </a:defRPr>
            </a:pPr>
            <a:r>
              <a:t>EXECUTION AND SCOPE</a:t>
            </a:r>
          </a:p>
        </p:txBody>
      </p:sp>
      <p:sp>
        <p:nvSpPr>
          <p:cNvPr id="3" name="TextBox 2"/>
          <p:cNvSpPr txBox="1"/>
          <p:nvPr/>
        </p:nvSpPr>
        <p:spPr>
          <a:xfrm>
            <a:off x="731520" y="621792"/>
            <a:ext cx="10515600" cy="548640"/>
          </a:xfrm>
          <a:prstGeom prst="rect">
            <a:avLst/>
          </a:prstGeom>
          <a:noFill/>
        </p:spPr>
        <p:txBody>
          <a:bodyPr wrap="square" lIns="0" rIns="0" tIns="0" bIns="0">
            <a:spAutoFit/>
          </a:bodyPr>
          <a:lstStyle/>
          <a:p>
            <a:pPr>
              <a:defRPr sz="2000" b="1">
                <a:solidFill>
                  <a:srgbClr val="0F2B48"/>
                </a:solidFill>
              </a:defRPr>
            </a:pPr>
            <a:r>
              <a:t>Week 04 Deliverables and Pre-M1 Status</a:t>
            </a:r>
          </a:p>
        </p:txBody>
      </p:sp>
      <p:sp>
        <p:nvSpPr>
          <p:cNvPr id="4" name="Rectangle 3"/>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6309360"/>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82512"/>
            <a:ext cx="8686800" cy="274320"/>
          </a:xfrm>
          <a:prstGeom prst="rect">
            <a:avLst/>
          </a:prstGeom>
          <a:noFill/>
        </p:spPr>
        <p:txBody>
          <a:bodyPr wrap="none" lIns="0" rIns="0" tIns="0" bIns="0">
            <a:spAutoFit/>
          </a:bodyPr>
          <a:lstStyle/>
          <a:p>
            <a:pPr>
              <a:defRPr sz="900">
                <a:solidFill>
                  <a:srgbClr val="64748B"/>
                </a:solidFill>
              </a:defRPr>
            </a:pPr>
            <a:r>
              <a:t>UC8: Robotic Arm Conveyor Pick-and-Place with Obstacle Avoidance | VGU Robotic Project (Week 04)</a:t>
            </a:r>
          </a:p>
        </p:txBody>
      </p:sp>
      <p:sp>
        <p:nvSpPr>
          <p:cNvPr id="7" name="TextBox 6"/>
          <p:cNvSpPr txBox="1"/>
          <p:nvPr/>
        </p:nvSpPr>
        <p:spPr>
          <a:xfrm>
            <a:off x="10058400" y="6382512"/>
            <a:ext cx="1401775" cy="274320"/>
          </a:xfrm>
          <a:prstGeom prst="rect">
            <a:avLst/>
          </a:prstGeom>
          <a:noFill/>
        </p:spPr>
        <p:txBody>
          <a:bodyPr wrap="none" lIns="0" rIns="0" tIns="0" bIns="0">
            <a:spAutoFit/>
          </a:bodyPr>
          <a:lstStyle/>
          <a:p>
            <a:pPr algn="r">
              <a:defRPr sz="900" b="1">
                <a:solidFill>
                  <a:srgbClr val="0284C7"/>
                </a:solidFill>
              </a:defRPr>
            </a:pPr>
            <a:r>
              <a:t>Slide 04</a:t>
            </a:r>
          </a:p>
        </p:txBody>
      </p:sp>
      <p:sp>
        <p:nvSpPr>
          <p:cNvPr id="8" name="Rounded Rectangle 7"/>
          <p:cNvSpPr/>
          <p:nvPr/>
        </p:nvSpPr>
        <p:spPr>
          <a:xfrm>
            <a:off x="731520" y="1463040"/>
            <a:ext cx="5212080" cy="45720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645920"/>
            <a:ext cx="4846320" cy="4206240"/>
          </a:xfrm>
          <a:prstGeom prst="rect">
            <a:avLst/>
          </a:prstGeom>
          <a:noFill/>
        </p:spPr>
        <p:txBody>
          <a:bodyPr wrap="square">
            <a:spAutoFit/>
          </a:bodyPr>
          <a:lstStyle/>
          <a:p>
            <a:pPr>
              <a:spcAft>
                <a:spcPts val="1000"/>
              </a:spcAft>
              <a:defRPr sz="1300" b="1">
                <a:solidFill>
                  <a:srgbClr val="059669"/>
                </a:solidFill>
              </a:defRPr>
            </a:pPr>
            <a:r>
              <a:t>Delivery Status (100% Verified)</a:t>
            </a:r>
          </a:p>
          <a:p>
            <a:pPr>
              <a:spcAft>
                <a:spcPts val="800"/>
              </a:spcAft>
            </a:pPr>
            <a:r>
              <a:rPr b="1" sz="1050">
                <a:solidFill>
                  <a:srgbClr val="0F2B48"/>
                </a:solidFill>
              </a:rPr>
              <a:t>✔ Trajectory execution: </a:t>
            </a:r>
            <a:r>
              <a:rPr sz="1000">
                <a:solidFill>
                  <a:srgbClr val="1E293B"/>
                </a:solidFill>
              </a:rPr>
              <a:t>Six UR10e joints follow the ROS joint-state stream via ArticulationBody without oscillations.</a:t>
            </a:r>
          </a:p>
          <a:p>
            <a:pPr>
              <a:spcAft>
                <a:spcPts val="800"/>
              </a:spcAft>
            </a:pPr>
            <a:r>
              <a:rPr b="1" sz="1050">
                <a:solidFill>
                  <a:srgbClr val="0F2B48"/>
                </a:solidFill>
              </a:rPr>
              <a:t>✔ Grasp and release: </a:t>
            </a:r>
            <a:r>
              <a:rPr sz="1000">
                <a:solidFill>
                  <a:srgbClr val="1E293B"/>
                </a:solidFill>
              </a:rPr>
              <a:t>Attach logic links the detected cube to tool0 instantaneously with zero physics slippage.</a:t>
            </a:r>
          </a:p>
          <a:p>
            <a:pPr>
              <a:spcAft>
                <a:spcPts val="800"/>
              </a:spcAft>
            </a:pPr>
            <a:r>
              <a:rPr b="1" sz="1050">
                <a:solidFill>
                  <a:srgbClr val="0F2B48"/>
                </a:solidFill>
              </a:rPr>
              <a:t>✔ Task controller: </a:t>
            </a:r>
            <a:r>
              <a:rPr sz="1000">
                <a:solidFill>
                  <a:srgbClr val="1E293B"/>
                </a:solidFill>
              </a:rPr>
              <a:t>The automated sequence coordinates motion, pre-grasp hovering, descent, and sorting.</a:t>
            </a:r>
          </a:p>
          <a:p>
            <a:pPr>
              <a:spcAft>
                <a:spcPts val="800"/>
              </a:spcAft>
            </a:pPr>
            <a:r>
              <a:rPr b="1" sz="1050">
                <a:solidFill>
                  <a:srgbClr val="0F2B48"/>
                </a:solidFill>
              </a:rPr>
              <a:t>✔ Three-bin routing: </a:t>
            </a:r>
            <a:r>
              <a:rPr sz="1000">
                <a:solidFill>
                  <a:srgbClr val="1E293B"/>
                </a:solidFill>
              </a:rPr>
              <a:t>Red, yellow and blue objects use dedicated non-singular targets with zero collision.</a:t>
            </a:r>
          </a:p>
        </p:txBody>
      </p:sp>
      <p:sp>
        <p:nvSpPr>
          <p:cNvPr id="10" name="Rounded Rectangle 9"/>
          <p:cNvSpPr/>
          <p:nvPr/>
        </p:nvSpPr>
        <p:spPr>
          <a:xfrm>
            <a:off x="6217920" y="1463040"/>
            <a:ext cx="5212080" cy="45720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0" y="1645920"/>
            <a:ext cx="4846320" cy="4206240"/>
          </a:xfrm>
          <a:prstGeom prst="rect">
            <a:avLst/>
          </a:prstGeom>
          <a:noFill/>
        </p:spPr>
        <p:txBody>
          <a:bodyPr wrap="square">
            <a:spAutoFit/>
          </a:bodyPr>
          <a:lstStyle/>
          <a:p>
            <a:pPr>
              <a:spcAft>
                <a:spcPts val="1000"/>
              </a:spcAft>
              <a:defRPr sz="1300" b="1">
                <a:solidFill>
                  <a:srgbClr val="0284C7"/>
                </a:solidFill>
              </a:defRPr>
            </a:pPr>
            <a:r>
              <a:t>Pre-Milestone 1 Verification Evidence</a:t>
            </a:r>
          </a:p>
          <a:p>
            <a:pPr>
              <a:spcAft>
                <a:spcPts val="600"/>
              </a:spcAft>
            </a:pPr>
            <a:r>
              <a:rPr b="1" sz="1000">
                <a:solidFill>
                  <a:srgbClr val="0F2B48"/>
                </a:solidFill>
              </a:rPr>
              <a:t>📊 Verified Test Cycles: </a:t>
            </a:r>
            <a:r>
              <a:rPr sz="1000">
                <a:solidFill>
                  <a:srgbClr val="1E293B"/>
                </a:solidFill>
              </a:rPr>
              <a:t>70 consecutive cycles logged to trials.csv without a single interruption.</a:t>
            </a:r>
          </a:p>
          <a:p>
            <a:pPr>
              <a:spcAft>
                <a:spcPts val="600"/>
              </a:spcAft>
            </a:pPr>
            <a:r>
              <a:rPr b="1" sz="1000">
                <a:solidFill>
                  <a:srgbClr val="0F2B48"/>
                </a:solidFill>
              </a:rPr>
              <a:t>📊 Grasp Success Rate: </a:t>
            </a:r>
            <a:r>
              <a:rPr sz="1000">
                <a:solidFill>
                  <a:srgbClr val="1E293B"/>
                </a:solidFill>
              </a:rPr>
              <a:t>100.0% (70 / 70 trials) — Perfect grip latching.</a:t>
            </a:r>
          </a:p>
          <a:p>
            <a:pPr>
              <a:spcAft>
                <a:spcPts val="600"/>
              </a:spcAft>
            </a:pPr>
            <a:r>
              <a:rPr b="1" sz="1000">
                <a:solidFill>
                  <a:srgbClr val="0F2B48"/>
                </a:solidFill>
              </a:rPr>
              <a:t>📊 Sorting Success Rate: </a:t>
            </a:r>
            <a:r>
              <a:rPr sz="1000">
                <a:solidFill>
                  <a:srgbClr val="1E293B"/>
                </a:solidFill>
              </a:rPr>
              <a:t>100.0% (70 / 70 trials) — 100% correct color placement.</a:t>
            </a:r>
          </a:p>
          <a:p>
            <a:pPr>
              <a:spcAft>
                <a:spcPts val="600"/>
              </a:spcAft>
            </a:pPr>
            <a:r>
              <a:rPr b="1" sz="1000">
                <a:solidFill>
                  <a:srgbClr val="0F2B48"/>
                </a:solidFill>
              </a:rPr>
              <a:t>📊 Collision Rate: </a:t>
            </a:r>
            <a:r>
              <a:rPr sz="1000">
                <a:solidFill>
                  <a:srgbClr val="1E293B"/>
                </a:solidFill>
              </a:rPr>
              <a:t>0.0% — Flanking bin geometry eliminates conveyor hazards.</a:t>
            </a:r>
          </a:p>
          <a:p>
            <a:pPr>
              <a:spcAft>
                <a:spcPts val="600"/>
              </a:spcAft>
            </a:pPr>
            <a:r>
              <a:rPr b="1" sz="1000">
                <a:solidFill>
                  <a:srgbClr val="0F2B48"/>
                </a:solidFill>
              </a:rPr>
              <a:t>📊 Mean Cycle Duration: </a:t>
            </a:r>
            <a:r>
              <a:rPr sz="1000">
                <a:solidFill>
                  <a:srgbClr val="1E293B"/>
                </a:solidFill>
              </a:rPr>
              <a:t>11.23 s / cycle (Standard) | 4.85 s / cycle (1.8x High-Speed).</a:t>
            </a:r>
          </a:p>
          <a:p>
            <a:pPr>
              <a:spcAft>
                <a:spcPts val="600"/>
              </a:spcAft>
            </a:pPr>
            <a:r>
              <a:rPr b="1" sz="1000">
                <a:solidFill>
                  <a:srgbClr val="0F2B48"/>
                </a:solidFill>
              </a:rPr>
              <a:t>📊 Verification Remaining: </a:t>
            </a:r>
            <a:r>
              <a:rPr sz="1000">
                <a:solidFill>
                  <a:srgbClr val="1E293B"/>
                </a:solidFill>
              </a:rPr>
              <a:t>Final code polish, ROS parameter decoupling, and stress test prior to Week 05 defense.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9144000" cy="274320"/>
          </a:xfrm>
          <a:prstGeom prst="rect">
            <a:avLst/>
          </a:prstGeom>
          <a:noFill/>
        </p:spPr>
        <p:txBody>
          <a:bodyPr wrap="square" lIns="0" rIns="0" tIns="0" bIns="0">
            <a:spAutoFit/>
          </a:bodyPr>
          <a:lstStyle/>
          <a:p>
            <a:pPr>
              <a:defRPr sz="1000" b="1">
                <a:solidFill>
                  <a:srgbClr val="0284C7"/>
                </a:solidFill>
              </a:defRPr>
            </a:pPr>
            <a:r>
              <a:t>ARCHITECTURE</a:t>
            </a:r>
          </a:p>
        </p:txBody>
      </p:sp>
      <p:sp>
        <p:nvSpPr>
          <p:cNvPr id="3" name="TextBox 2"/>
          <p:cNvSpPr txBox="1"/>
          <p:nvPr/>
        </p:nvSpPr>
        <p:spPr>
          <a:xfrm>
            <a:off x="731520" y="621792"/>
            <a:ext cx="10515600" cy="548640"/>
          </a:xfrm>
          <a:prstGeom prst="rect">
            <a:avLst/>
          </a:prstGeom>
          <a:noFill/>
        </p:spPr>
        <p:txBody>
          <a:bodyPr wrap="square" lIns="0" rIns="0" tIns="0" bIns="0">
            <a:spAutoFit/>
          </a:bodyPr>
          <a:lstStyle/>
          <a:p>
            <a:pPr>
              <a:defRPr sz="2000" b="1">
                <a:solidFill>
                  <a:srgbClr val="0F2B48"/>
                </a:solidFill>
              </a:defRPr>
            </a:pPr>
            <a:r>
              <a:t>Bidirectional ROS-Unity Pipeline</a:t>
            </a:r>
          </a:p>
        </p:txBody>
      </p:sp>
      <p:sp>
        <p:nvSpPr>
          <p:cNvPr id="4" name="Rectangle 3"/>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6309360"/>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82512"/>
            <a:ext cx="8686800" cy="274320"/>
          </a:xfrm>
          <a:prstGeom prst="rect">
            <a:avLst/>
          </a:prstGeom>
          <a:noFill/>
        </p:spPr>
        <p:txBody>
          <a:bodyPr wrap="none" lIns="0" rIns="0" tIns="0" bIns="0">
            <a:spAutoFit/>
          </a:bodyPr>
          <a:lstStyle/>
          <a:p>
            <a:pPr>
              <a:defRPr sz="900">
                <a:solidFill>
                  <a:srgbClr val="64748B"/>
                </a:solidFill>
              </a:defRPr>
            </a:pPr>
            <a:r>
              <a:t>UC8: Robotic Arm Conveyor Pick-and-Place with Obstacle Avoidance | VGU Robotic Project (Week 04)</a:t>
            </a:r>
          </a:p>
        </p:txBody>
      </p:sp>
      <p:sp>
        <p:nvSpPr>
          <p:cNvPr id="7" name="TextBox 6"/>
          <p:cNvSpPr txBox="1"/>
          <p:nvPr/>
        </p:nvSpPr>
        <p:spPr>
          <a:xfrm>
            <a:off x="10058400" y="6382512"/>
            <a:ext cx="1401775" cy="274320"/>
          </a:xfrm>
          <a:prstGeom prst="rect">
            <a:avLst/>
          </a:prstGeom>
          <a:noFill/>
        </p:spPr>
        <p:txBody>
          <a:bodyPr wrap="none" lIns="0" rIns="0" tIns="0" bIns="0">
            <a:spAutoFit/>
          </a:bodyPr>
          <a:lstStyle/>
          <a:p>
            <a:pPr algn="r">
              <a:defRPr sz="900" b="1">
                <a:solidFill>
                  <a:srgbClr val="0284C7"/>
                </a:solidFill>
              </a:defRPr>
            </a:pPr>
            <a:r>
              <a:t>Slide 05</a:t>
            </a:r>
          </a:p>
        </p:txBody>
      </p:sp>
      <p:sp>
        <p:nvSpPr>
          <p:cNvPr id="8" name="Rounded Rectangle 7"/>
          <p:cNvSpPr/>
          <p:nvPr/>
        </p:nvSpPr>
        <p:spPr>
          <a:xfrm>
            <a:off x="731520" y="1463040"/>
            <a:ext cx="3413455" cy="32918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645920"/>
            <a:ext cx="3047695" cy="2926080"/>
          </a:xfrm>
          <a:prstGeom prst="rect">
            <a:avLst/>
          </a:prstGeom>
          <a:noFill/>
        </p:spPr>
        <p:txBody>
          <a:bodyPr wrap="square">
            <a:spAutoFit/>
          </a:bodyPr>
          <a:lstStyle/>
          <a:p>
            <a:pPr>
              <a:spcAft>
                <a:spcPts val="1200"/>
              </a:spcAft>
              <a:defRPr sz="1300" b="1">
                <a:solidFill>
                  <a:srgbClr val="0284C7"/>
                </a:solidFill>
              </a:defRPr>
            </a:pPr>
            <a:r>
              <a:t>UNITY 2022.3</a:t>
            </a:r>
          </a:p>
          <a:p>
            <a:pPr>
              <a:spcAft>
                <a:spcPts val="600"/>
              </a:spcAft>
              <a:defRPr sz="1000">
                <a:solidFill>
                  <a:srgbClr val="1E293B"/>
                </a:solidFill>
              </a:defRPr>
            </a:pPr>
            <a:r>
              <a:t>• Object detection &amp; color classification</a:t>
            </a:r>
          </a:p>
          <a:p>
            <a:pPr>
              <a:spcAft>
                <a:spcPts val="600"/>
              </a:spcAft>
              <a:defRPr sz="1000">
                <a:solidFill>
                  <a:srgbClr val="1E293B"/>
                </a:solidFill>
              </a:defRPr>
            </a:pPr>
            <a:r>
              <a:t>• Conveyor motion &amp; friction stop control</a:t>
            </a:r>
          </a:p>
          <a:p>
            <a:pPr>
              <a:spcAft>
                <a:spcPts val="600"/>
              </a:spcAft>
              <a:defRPr sz="1000">
                <a:solidFill>
                  <a:srgbClr val="1E293B"/>
                </a:solidFill>
              </a:defRPr>
            </a:pPr>
            <a:r>
              <a:t>• UR10e 6-DOF ArticulationBody joint drive</a:t>
            </a:r>
          </a:p>
          <a:p>
            <a:pPr>
              <a:spcAft>
                <a:spcPts val="600"/>
              </a:spcAft>
              <a:defRPr sz="1000">
                <a:solidFill>
                  <a:srgbClr val="1E293B"/>
                </a:solidFill>
              </a:defRPr>
            </a:pPr>
            <a:r>
              <a:t>• Gripper attach/parenting logic</a:t>
            </a:r>
          </a:p>
        </p:txBody>
      </p:sp>
      <p:sp>
        <p:nvSpPr>
          <p:cNvPr id="10" name="Rounded Rectangle 9"/>
          <p:cNvSpPr/>
          <p:nvPr/>
        </p:nvSpPr>
        <p:spPr>
          <a:xfrm>
            <a:off x="4389120" y="1463040"/>
            <a:ext cx="3413455" cy="32918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0" y="1645920"/>
            <a:ext cx="3047695" cy="2926080"/>
          </a:xfrm>
          <a:prstGeom prst="rect">
            <a:avLst/>
          </a:prstGeom>
          <a:noFill/>
        </p:spPr>
        <p:txBody>
          <a:bodyPr wrap="square">
            <a:spAutoFit/>
          </a:bodyPr>
          <a:lstStyle/>
          <a:p>
            <a:pPr>
              <a:spcAft>
                <a:spcPts val="1200"/>
              </a:spcAft>
              <a:defRPr sz="1300" b="1">
                <a:solidFill>
                  <a:srgbClr val="0F2B48"/>
                </a:solidFill>
              </a:defRPr>
            </a:pPr>
            <a:r>
              <a:t>ROS-TCP BRIDGE</a:t>
            </a:r>
          </a:p>
          <a:p>
            <a:pPr>
              <a:spcAft>
                <a:spcPts val="600"/>
              </a:spcAft>
              <a:defRPr sz="1000">
                <a:solidFill>
                  <a:srgbClr val="1E293B"/>
                </a:solidFill>
              </a:defRPr>
            </a:pPr>
            <a:r>
              <a:t>• Port 10000 TCP loopback socket</a:t>
            </a:r>
          </a:p>
          <a:p>
            <a:pPr>
              <a:spcAft>
                <a:spcPts val="600"/>
              </a:spcAft>
              <a:defRPr sz="1000">
                <a:solidFill>
                  <a:srgbClr val="1E293B"/>
                </a:solidFill>
              </a:defRPr>
            </a:pPr>
            <a:r>
              <a:t>• Bidirectional JSON/BSON message transport</a:t>
            </a:r>
          </a:p>
          <a:p>
            <a:pPr>
              <a:spcAft>
                <a:spcPts val="600"/>
              </a:spcAft>
              <a:defRPr sz="1000">
                <a:solidFill>
                  <a:srgbClr val="1E293B"/>
                </a:solidFill>
              </a:defRPr>
            </a:pPr>
            <a:r>
              <a:t>• Real-time ROS topic serialization</a:t>
            </a:r>
          </a:p>
          <a:p>
            <a:pPr>
              <a:spcAft>
                <a:spcPts val="600"/>
              </a:spcAft>
              <a:defRPr sz="1000">
                <a:solidFill>
                  <a:srgbClr val="1E293B"/>
                </a:solidFill>
              </a:defRPr>
            </a:pPr>
            <a:r>
              <a:t>• Zero external network dependency (Offline)</a:t>
            </a:r>
          </a:p>
        </p:txBody>
      </p:sp>
      <p:sp>
        <p:nvSpPr>
          <p:cNvPr id="12" name="Rounded Rectangle 11"/>
          <p:cNvSpPr/>
          <p:nvPr/>
        </p:nvSpPr>
        <p:spPr>
          <a:xfrm>
            <a:off x="8046720" y="1463040"/>
            <a:ext cx="3413455" cy="32918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0" y="1645920"/>
            <a:ext cx="3047695" cy="2926080"/>
          </a:xfrm>
          <a:prstGeom prst="rect">
            <a:avLst/>
          </a:prstGeom>
          <a:noFill/>
        </p:spPr>
        <p:txBody>
          <a:bodyPr wrap="square">
            <a:spAutoFit/>
          </a:bodyPr>
          <a:lstStyle/>
          <a:p>
            <a:pPr>
              <a:spcAft>
                <a:spcPts val="1200"/>
              </a:spcAft>
              <a:defRPr sz="1300" b="1">
                <a:solidFill>
                  <a:srgbClr val="059669"/>
                </a:solidFill>
              </a:defRPr>
            </a:pPr>
            <a:r>
              <a:t>ROS NOETIC</a:t>
            </a:r>
          </a:p>
          <a:p>
            <a:pPr>
              <a:spcAft>
                <a:spcPts val="600"/>
              </a:spcAft>
              <a:defRPr sz="1000">
                <a:solidFill>
                  <a:srgbClr val="1E293B"/>
                </a:solidFill>
              </a:defRPr>
            </a:pPr>
            <a:r>
              <a:t>• MoveIt motion planning &amp; kinematics solver</a:t>
            </a:r>
          </a:p>
          <a:p>
            <a:pPr>
              <a:spcAft>
                <a:spcPts val="600"/>
              </a:spcAft>
              <a:defRPr sz="1000">
                <a:solidFill>
                  <a:srgbClr val="1E293B"/>
                </a:solidFill>
              </a:defRPr>
            </a:pPr>
            <a:r>
              <a:t>• TF transforms &amp; PlanningScene obstacles</a:t>
            </a:r>
          </a:p>
          <a:p>
            <a:pPr>
              <a:spcAft>
                <a:spcPts val="600"/>
              </a:spcAft>
              <a:defRPr sz="1000">
                <a:solidFill>
                  <a:srgbClr val="1E293B"/>
                </a:solidFill>
              </a:defRPr>
            </a:pPr>
            <a:r>
              <a:t>• Task state machine sequencer</a:t>
            </a:r>
          </a:p>
          <a:p>
            <a:pPr>
              <a:spcAft>
                <a:spcPts val="600"/>
              </a:spcAft>
              <a:defRPr sz="1000">
                <a:solidFill>
                  <a:srgbClr val="1E293B"/>
                </a:solidFill>
              </a:defRPr>
            </a:pPr>
            <a:r>
              <a:t>• Trajectory 1.8x speed scaling engine</a:t>
            </a:r>
          </a:p>
        </p:txBody>
      </p:sp>
      <p:sp>
        <p:nvSpPr>
          <p:cNvPr id="14" name="Rounded Rectangle 13"/>
          <p:cNvSpPr/>
          <p:nvPr/>
        </p:nvSpPr>
        <p:spPr>
          <a:xfrm>
            <a:off x="731520" y="4937760"/>
            <a:ext cx="10728655" cy="1234440"/>
          </a:xfrm>
          <a:prstGeom prst="roundRect">
            <a:avLst/>
          </a:prstGeom>
          <a:solidFill>
            <a:srgbClr val="F0F9FF"/>
          </a:solidFill>
          <a:ln w="19050">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5010912"/>
            <a:ext cx="10362895" cy="1078992"/>
          </a:xfrm>
          <a:prstGeom prst="rect">
            <a:avLst/>
          </a:prstGeom>
          <a:noFill/>
        </p:spPr>
        <p:txBody>
          <a:bodyPr wrap="square">
            <a:spAutoFit/>
          </a:bodyPr>
          <a:lstStyle/>
          <a:p>
            <a:pPr>
              <a:spcAft>
                <a:spcPts val="400"/>
              </a:spcAft>
              <a:defRPr sz="1100" b="1">
                <a:solidFill>
                  <a:srgbClr val="0F2B48"/>
                </a:solidFill>
              </a:defRPr>
            </a:pPr>
            <a:r>
              <a:t>TECHNICAL PIPELINE SPECIFICATIONS &amp; PARAMETERS</a:t>
            </a:r>
          </a:p>
          <a:p>
            <a:pPr>
              <a:defRPr sz="950">
                <a:solidFill>
                  <a:srgbClr val="1E293B"/>
                </a:solidFill>
              </a:defRPr>
            </a:pPr>
            <a:r>
              <a:t>• Coordinate Mapping: X_ROS = Z_Unity, Y_ROS = -X_Unity, Z_ROS = Y_Unity</a:t>
            </a:r>
            <a:br/>
            <a:r>
              <a:t>• Planning Group: manipulator | Planning Frame: base_link | End Effector: tool0</a:t>
            </a:r>
            <a:br/>
            <a:r>
              <a:t>• Streaming Topics: /detected_object_pose (Pose), /detected_object_type (String), /joint_states @ 50 Hz, /ur10e/gripper_command (Bool)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9144000" cy="274320"/>
          </a:xfrm>
          <a:prstGeom prst="rect">
            <a:avLst/>
          </a:prstGeom>
          <a:noFill/>
        </p:spPr>
        <p:txBody>
          <a:bodyPr wrap="square" lIns="0" rIns="0" tIns="0" bIns="0">
            <a:spAutoFit/>
          </a:bodyPr>
          <a:lstStyle/>
          <a:p>
            <a:pPr>
              <a:defRPr sz="1000" b="1">
                <a:solidFill>
                  <a:srgbClr val="0284C7"/>
                </a:solidFill>
              </a:defRPr>
            </a:pPr>
            <a:r>
              <a:t>LAYOUT OPTIMIZATION</a:t>
            </a:r>
          </a:p>
        </p:txBody>
      </p:sp>
      <p:sp>
        <p:nvSpPr>
          <p:cNvPr id="3" name="TextBox 2"/>
          <p:cNvSpPr txBox="1"/>
          <p:nvPr/>
        </p:nvSpPr>
        <p:spPr>
          <a:xfrm>
            <a:off x="731520" y="621792"/>
            <a:ext cx="10515600" cy="548640"/>
          </a:xfrm>
          <a:prstGeom prst="rect">
            <a:avLst/>
          </a:prstGeom>
          <a:noFill/>
        </p:spPr>
        <p:txBody>
          <a:bodyPr wrap="square" lIns="0" rIns="0" tIns="0" bIns="0">
            <a:spAutoFit/>
          </a:bodyPr>
          <a:lstStyle/>
          <a:p>
            <a:pPr>
              <a:defRPr sz="2000" b="1">
                <a:solidFill>
                  <a:srgbClr val="0F2B48"/>
                </a:solidFill>
              </a:defRPr>
            </a:pPr>
            <a:r>
              <a:t>Workcell Layout: Front Pick Zone and Flanking Bins</a:t>
            </a:r>
          </a:p>
        </p:txBody>
      </p:sp>
      <p:sp>
        <p:nvSpPr>
          <p:cNvPr id="4" name="Rectangle 3"/>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6309360"/>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82512"/>
            <a:ext cx="8686800" cy="274320"/>
          </a:xfrm>
          <a:prstGeom prst="rect">
            <a:avLst/>
          </a:prstGeom>
          <a:noFill/>
        </p:spPr>
        <p:txBody>
          <a:bodyPr wrap="none" lIns="0" rIns="0" tIns="0" bIns="0">
            <a:spAutoFit/>
          </a:bodyPr>
          <a:lstStyle/>
          <a:p>
            <a:pPr>
              <a:defRPr sz="900">
                <a:solidFill>
                  <a:srgbClr val="64748B"/>
                </a:solidFill>
              </a:defRPr>
            </a:pPr>
            <a:r>
              <a:t>UC8: Robotic Arm Conveyor Pick-and-Place with Obstacle Avoidance | VGU Robotic Project (Week 04)</a:t>
            </a:r>
          </a:p>
        </p:txBody>
      </p:sp>
      <p:sp>
        <p:nvSpPr>
          <p:cNvPr id="7" name="TextBox 6"/>
          <p:cNvSpPr txBox="1"/>
          <p:nvPr/>
        </p:nvSpPr>
        <p:spPr>
          <a:xfrm>
            <a:off x="10058400" y="6382512"/>
            <a:ext cx="1401775" cy="274320"/>
          </a:xfrm>
          <a:prstGeom prst="rect">
            <a:avLst/>
          </a:prstGeom>
          <a:noFill/>
        </p:spPr>
        <p:txBody>
          <a:bodyPr wrap="none" lIns="0" rIns="0" tIns="0" bIns="0">
            <a:spAutoFit/>
          </a:bodyPr>
          <a:lstStyle/>
          <a:p>
            <a:pPr algn="r">
              <a:defRPr sz="900" b="1">
                <a:solidFill>
                  <a:srgbClr val="0284C7"/>
                </a:solidFill>
              </a:defRPr>
            </a:pPr>
            <a:r>
              <a:t>Slide 06</a:t>
            </a:r>
          </a:p>
        </p:txBody>
      </p:sp>
      <p:graphicFrame>
        <p:nvGraphicFramePr>
          <p:cNvPr id="8" name="Table 7"/>
          <p:cNvGraphicFramePr>
            <a:graphicFrameLocks noGrp="1"/>
          </p:cNvGraphicFramePr>
          <p:nvPr/>
        </p:nvGraphicFramePr>
        <p:xfrm>
          <a:off x="731520" y="1463040"/>
          <a:ext cx="10728655" cy="3474720"/>
        </p:xfrm>
        <a:graphic>
          <a:graphicData uri="http://schemas.openxmlformats.org/drawingml/2006/table">
            <a:tbl>
              <a:tblPr firstRow="1" bandRow="1">
                <a:tableStyleId>{5C22544A-7EE6-4342-B048-85BDC9FD1C3A}</a:tableStyleId>
              </a:tblPr>
              <a:tblGrid>
                <a:gridCol w="2194560"/>
                <a:gridCol w="3474720"/>
                <a:gridCol w="5059375"/>
              </a:tblGrid>
              <a:tr h="579120">
                <a:tc>
                  <a:txBody>
                    <a:bodyPr/>
                    <a:lstStyle/>
                    <a:p>
                      <a:pPr>
                        <a:defRPr sz="1100" b="1">
                          <a:solidFill>
                            <a:srgbClr val="F1F5F9"/>
                          </a:solidFill>
                        </a:defRPr>
                      </a:pPr>
                      <a:r>
                        <a:t>Component</a:t>
                      </a:r>
                    </a:p>
                  </a:txBody>
                  <a:tcPr anchor="ctr" marL="109728" marR="109728">
                    <a:solidFill>
                      <a:srgbClr val="0F2B48"/>
                    </a:solidFill>
                  </a:tcPr>
                </a:tc>
                <a:tc>
                  <a:txBody>
                    <a:bodyPr/>
                    <a:lstStyle/>
                    <a:p>
                      <a:pPr>
                        <a:defRPr sz="1100" b="1">
                          <a:solidFill>
                            <a:srgbClr val="F1F5F9"/>
                          </a:solidFill>
                        </a:defRPr>
                      </a:pPr>
                      <a:r>
                        <a:t>Selected Setup</a:t>
                      </a:r>
                    </a:p>
                  </a:txBody>
                  <a:tcPr anchor="ctr" marL="109728" marR="109728">
                    <a:solidFill>
                      <a:srgbClr val="0F2B48"/>
                    </a:solidFill>
                  </a:tcPr>
                </a:tc>
                <a:tc>
                  <a:txBody>
                    <a:bodyPr/>
                    <a:lstStyle/>
                    <a:p>
                      <a:pPr>
                        <a:defRPr sz="1100" b="1">
                          <a:solidFill>
                            <a:srgbClr val="F1F5F9"/>
                          </a:solidFill>
                        </a:defRPr>
                      </a:pPr>
                      <a:r>
                        <a:t>Engineering Reason</a:t>
                      </a:r>
                    </a:p>
                  </a:txBody>
                  <a:tcPr anchor="ctr" marL="109728" marR="109728">
                    <a:solidFill>
                      <a:srgbClr val="0F2B48"/>
                    </a:solidFill>
                  </a:tcPr>
                </a:tc>
              </a:tr>
              <a:tr h="579120">
                <a:tc>
                  <a:txBody>
                    <a:bodyPr/>
                    <a:lstStyle/>
                    <a:p>
                      <a:pPr>
                        <a:defRPr sz="1000" b="1">
                          <a:solidFill>
                            <a:srgbClr val="1E293B"/>
                          </a:solidFill>
                        </a:defRPr>
                      </a:pPr>
                      <a:r>
                        <a:t>Conveyor</a:t>
                      </a:r>
                    </a:p>
                  </a:txBody>
                  <a:tcPr anchor="ctr" marL="109728" marR="109728">
                    <a:solidFill>
                      <a:srgbClr val="FFFFFF"/>
                    </a:solidFill>
                  </a:tcPr>
                </a:tc>
                <a:tc>
                  <a:txBody>
                    <a:bodyPr/>
                    <a:lstStyle/>
                    <a:p>
                      <a:pPr>
                        <a:defRPr sz="1000">
                          <a:solidFill>
                            <a:srgbClr val="1E293B"/>
                          </a:solidFill>
                        </a:defRPr>
                      </a:pPr>
                      <a:r>
                        <a:t>3.6 m, centered (X = -0.60 m)</a:t>
                      </a:r>
                    </a:p>
                  </a:txBody>
                  <a:tcPr anchor="ctr" marL="109728" marR="109728">
                    <a:solidFill>
                      <a:srgbClr val="FFFFFF"/>
                    </a:solidFill>
                  </a:tcPr>
                </a:tc>
                <a:tc>
                  <a:txBody>
                    <a:bodyPr/>
                    <a:lstStyle/>
                    <a:p>
                      <a:pPr>
                        <a:defRPr sz="1000">
                          <a:solidFill>
                            <a:srgbClr val="1E293B"/>
                          </a:solidFill>
                        </a:defRPr>
                      </a:pPr>
                      <a:r>
                        <a:t>Stable transport through the robot workspace; ample gliding run</a:t>
                      </a:r>
                    </a:p>
                  </a:txBody>
                  <a:tcPr anchor="ctr" marL="109728" marR="109728">
                    <a:solidFill>
                      <a:srgbClr val="FFFFFF"/>
                    </a:solidFill>
                  </a:tcPr>
                </a:tc>
              </a:tr>
              <a:tr h="579120">
                <a:tc>
                  <a:txBody>
                    <a:bodyPr/>
                    <a:lstStyle/>
                    <a:p>
                      <a:pPr>
                        <a:defRPr sz="1000" b="1">
                          <a:solidFill>
                            <a:srgbClr val="1E293B"/>
                          </a:solidFill>
                        </a:defRPr>
                      </a:pPr>
                      <a:r>
                        <a:t>Pick zone</a:t>
                      </a:r>
                    </a:p>
                  </a:txBody>
                  <a:tcPr anchor="ctr" marL="109728" marR="109728">
                    <a:solidFill>
                      <a:srgbClr val="F1F5F9"/>
                    </a:solidFill>
                  </a:tcPr>
                </a:tc>
                <a:tc>
                  <a:txBody>
                    <a:bodyPr/>
                    <a:lstStyle/>
                    <a:p>
                      <a:pPr>
                        <a:defRPr sz="1000">
                          <a:solidFill>
                            <a:srgbClr val="1E293B"/>
                          </a:solidFill>
                        </a:defRPr>
                      </a:pPr>
                      <a:r>
                        <a:t>Front center (X = -0.60 m, Y = 0.00 m)</a:t>
                      </a:r>
                    </a:p>
                  </a:txBody>
                  <a:tcPr anchor="ctr" marL="109728" marR="109728">
                    <a:solidFill>
                      <a:srgbClr val="F1F5F9"/>
                    </a:solidFill>
                  </a:tcPr>
                </a:tc>
                <a:tc>
                  <a:txBody>
                    <a:bodyPr/>
                    <a:lstStyle/>
                    <a:p>
                      <a:pPr>
                        <a:defRPr sz="1000">
                          <a:solidFill>
                            <a:srgbClr val="1E293B"/>
                          </a:solidFill>
                        </a:defRPr>
                      </a:pPr>
                      <a:r>
                        <a:t>Short, symmetric approach minimizing arm travel distance &amp; inertia</a:t>
                      </a:r>
                    </a:p>
                  </a:txBody>
                  <a:tcPr anchor="ctr" marL="109728" marR="109728">
                    <a:solidFill>
                      <a:srgbClr val="F1F5F9"/>
                    </a:solidFill>
                  </a:tcPr>
                </a:tc>
              </a:tr>
              <a:tr h="579120">
                <a:tc>
                  <a:txBody>
                    <a:bodyPr/>
                    <a:lstStyle/>
                    <a:p>
                      <a:pPr>
                        <a:defRPr sz="1000" b="1">
                          <a:solidFill>
                            <a:srgbClr val="1E293B"/>
                          </a:solidFill>
                        </a:defRPr>
                      </a:pPr>
                      <a:r>
                        <a:t>Red and yellow bins</a:t>
                      </a:r>
                    </a:p>
                  </a:txBody>
                  <a:tcPr anchor="ctr" marL="109728" marR="109728">
                    <a:solidFill>
                      <a:srgbClr val="FFFFFF"/>
                    </a:solidFill>
                  </a:tcPr>
                </a:tc>
                <a:tc>
                  <a:txBody>
                    <a:bodyPr/>
                    <a:lstStyle/>
                    <a:p>
                      <a:pPr>
                        <a:defRPr sz="1000">
                          <a:solidFill>
                            <a:srgbClr val="1E293B"/>
                          </a:solidFill>
                        </a:defRPr>
                      </a:pPr>
                      <a:r>
                        <a:t>Left (Y = +0.55 m) and right (Y = -0.55 m)</a:t>
                      </a:r>
                    </a:p>
                  </a:txBody>
                  <a:tcPr anchor="ctr" marL="109728" marR="109728">
                    <a:solidFill>
                      <a:srgbClr val="FFFFFF"/>
                    </a:solidFill>
                  </a:tcPr>
                </a:tc>
                <a:tc>
                  <a:txBody>
                    <a:bodyPr/>
                    <a:lstStyle/>
                    <a:p>
                      <a:pPr>
                        <a:defRPr sz="1000">
                          <a:solidFill>
                            <a:srgbClr val="1E293B"/>
                          </a:solidFill>
                        </a:defRPr>
                      </a:pPr>
                      <a:r>
                        <a:t>Clear transfer paths eliminating collision hazards with conveyor</a:t>
                      </a:r>
                    </a:p>
                  </a:txBody>
                  <a:tcPr anchor="ctr" marL="109728" marR="109728">
                    <a:solidFill>
                      <a:srgbClr val="FFFFFF"/>
                    </a:solidFill>
                  </a:tcPr>
                </a:tc>
              </a:tr>
              <a:tr h="579120">
                <a:tc>
                  <a:txBody>
                    <a:bodyPr/>
                    <a:lstStyle/>
                    <a:p>
                      <a:pPr>
                        <a:defRPr sz="1000" b="1">
                          <a:solidFill>
                            <a:srgbClr val="1E293B"/>
                          </a:solidFill>
                        </a:defRPr>
                      </a:pPr>
                      <a:r>
                        <a:t>Blue bin</a:t>
                      </a:r>
                    </a:p>
                  </a:txBody>
                  <a:tcPr anchor="ctr" marL="109728" marR="109728">
                    <a:solidFill>
                      <a:srgbClr val="F1F5F9"/>
                    </a:solidFill>
                  </a:tcPr>
                </a:tc>
                <a:tc>
                  <a:txBody>
                    <a:bodyPr/>
                    <a:lstStyle/>
                    <a:p>
                      <a:pPr>
                        <a:defRPr sz="1000">
                          <a:solidFill>
                            <a:srgbClr val="1E293B"/>
                          </a:solidFill>
                        </a:defRPr>
                      </a:pPr>
                      <a:r>
                        <a:t>Behind robot (X = +0.50 m, Y = 0.00 m)</a:t>
                      </a:r>
                    </a:p>
                  </a:txBody>
                  <a:tcPr anchor="ctr" marL="109728" marR="109728">
                    <a:solidFill>
                      <a:srgbClr val="F1F5F9"/>
                    </a:solidFill>
                  </a:tcPr>
                </a:tc>
                <a:tc>
                  <a:txBody>
                    <a:bodyPr/>
                    <a:lstStyle/>
                    <a:p>
                      <a:pPr>
                        <a:defRPr sz="1000">
                          <a:solidFill>
                            <a:srgbClr val="1E293B"/>
                          </a:solidFill>
                        </a:defRPr>
                      </a:pPr>
                      <a:r>
                        <a:t>Separates third sorting target via pure base pan rotation</a:t>
                      </a:r>
                    </a:p>
                  </a:txBody>
                  <a:tcPr anchor="ctr" marL="109728" marR="109728">
                    <a:solidFill>
                      <a:srgbClr val="F1F5F9"/>
                    </a:solidFill>
                  </a:tcPr>
                </a:tc>
              </a:tr>
              <a:tr h="579120">
                <a:tc>
                  <a:txBody>
                    <a:bodyPr/>
                    <a:lstStyle/>
                    <a:p>
                      <a:pPr>
                        <a:defRPr sz="1000" b="1">
                          <a:solidFill>
                            <a:srgbClr val="1E293B"/>
                          </a:solidFill>
                        </a:defRPr>
                      </a:pPr>
                      <a:r>
                        <a:t>Support surface</a:t>
                      </a:r>
                    </a:p>
                  </a:txBody>
                  <a:tcPr anchor="ctr" marL="109728" marR="109728">
                    <a:solidFill>
                      <a:srgbClr val="FFFFFF"/>
                    </a:solidFill>
                  </a:tcPr>
                </a:tc>
                <a:tc>
                  <a:txBody>
                    <a:bodyPr/>
                    <a:lstStyle/>
                    <a:p>
                      <a:pPr>
                        <a:defRPr sz="1000">
                          <a:solidFill>
                            <a:srgbClr val="1E293B"/>
                          </a:solidFill>
                        </a:defRPr>
                      </a:pPr>
                      <a:r>
                        <a:t>4.0 m × 2.0 m heavy industrial table</a:t>
                      </a:r>
                    </a:p>
                  </a:txBody>
                  <a:tcPr anchor="ctr" marL="109728" marR="109728">
                    <a:solidFill>
                      <a:srgbClr val="FFFFFF"/>
                    </a:solidFill>
                  </a:tcPr>
                </a:tc>
                <a:tc>
                  <a:txBody>
                    <a:bodyPr/>
                    <a:lstStyle/>
                    <a:p>
                      <a:pPr>
                        <a:defRPr sz="1000">
                          <a:solidFill>
                            <a:srgbClr val="1E293B"/>
                          </a:solidFill>
                        </a:defRPr>
                      </a:pPr>
                      <a:r>
                        <a:t>Rigid foundation for rails, bins and robot base fixtures</a:t>
                      </a:r>
                    </a:p>
                  </a:txBody>
                  <a:tcPr anchor="ctr" marL="109728" marR="109728">
                    <a:solidFill>
                      <a:srgbClr val="FFFFFF"/>
                    </a:solidFill>
                  </a:tcPr>
                </a:tc>
              </a:tr>
            </a:tbl>
          </a:graphicData>
        </a:graphic>
      </p:graphicFrame>
      <p:sp>
        <p:nvSpPr>
          <p:cNvPr id="9" name="Rounded Rectangle 8"/>
          <p:cNvSpPr/>
          <p:nvPr/>
        </p:nvSpPr>
        <p:spPr>
          <a:xfrm>
            <a:off x="731520" y="5120640"/>
            <a:ext cx="10728655" cy="10515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5193792"/>
            <a:ext cx="10362895" cy="896112"/>
          </a:xfrm>
          <a:prstGeom prst="rect">
            <a:avLst/>
          </a:prstGeom>
          <a:noFill/>
        </p:spPr>
        <p:txBody>
          <a:bodyPr wrap="square">
            <a:spAutoFit/>
          </a:bodyPr>
          <a:lstStyle/>
          <a:p>
            <a:pPr>
              <a:spcAft>
                <a:spcPts val="400"/>
              </a:spcAft>
              <a:defRPr sz="1100" b="1">
                <a:solidFill>
                  <a:srgbClr val="0F2B48"/>
                </a:solidFill>
              </a:defRPr>
            </a:pPr>
            <a:r>
              <a:t>SPATIAL CLEARANCE &amp; SAFETY DIMENSIONS</a:t>
            </a:r>
          </a:p>
          <a:p>
            <a:pPr>
              <a:defRPr sz="950">
                <a:solidFill>
                  <a:srgbClr val="1E293B"/>
                </a:solidFill>
              </a:defRPr>
            </a:pPr>
            <a:r>
              <a:t>• Bin Mouth Enlargement: Expanded +35% to 0.38 m × 0.38 m × 0.10 m for 100% free-fall capture rate.</a:t>
            </a:r>
            <a:br/>
            <a:r>
              <a:t>• Vertical Safety Envelopes: +15 cm Pre-grasp &amp; Lift altitude completely clears conveyor aluminum rails (Z = +0.10 m) with zero contact.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9144000" cy="274320"/>
          </a:xfrm>
          <a:prstGeom prst="rect">
            <a:avLst/>
          </a:prstGeom>
          <a:noFill/>
        </p:spPr>
        <p:txBody>
          <a:bodyPr wrap="square" lIns="0" rIns="0" tIns="0" bIns="0">
            <a:spAutoFit/>
          </a:bodyPr>
          <a:lstStyle/>
          <a:p>
            <a:pPr>
              <a:defRPr sz="1000" b="1">
                <a:solidFill>
                  <a:srgbClr val="0284C7"/>
                </a:solidFill>
              </a:defRPr>
            </a:pPr>
            <a:r>
              <a:t>KINEMATICS</a:t>
            </a:r>
          </a:p>
        </p:txBody>
      </p:sp>
      <p:sp>
        <p:nvSpPr>
          <p:cNvPr id="3" name="TextBox 2"/>
          <p:cNvSpPr txBox="1"/>
          <p:nvPr/>
        </p:nvSpPr>
        <p:spPr>
          <a:xfrm>
            <a:off x="731520" y="621792"/>
            <a:ext cx="10515600" cy="548640"/>
          </a:xfrm>
          <a:prstGeom prst="rect">
            <a:avLst/>
          </a:prstGeom>
          <a:noFill/>
        </p:spPr>
        <p:txBody>
          <a:bodyPr wrap="square" lIns="0" rIns="0" tIns="0" bIns="0">
            <a:spAutoFit/>
          </a:bodyPr>
          <a:lstStyle/>
          <a:p>
            <a:pPr>
              <a:defRPr sz="2000" b="1">
                <a:solidFill>
                  <a:srgbClr val="0F2B48"/>
                </a:solidFill>
              </a:defRPr>
            </a:pPr>
            <a:r>
              <a:t>Downward Wrist Orientation and Transfer Motion</a:t>
            </a:r>
          </a:p>
        </p:txBody>
      </p:sp>
      <p:sp>
        <p:nvSpPr>
          <p:cNvPr id="4" name="Rectangle 3"/>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6309360"/>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82512"/>
            <a:ext cx="8686800" cy="274320"/>
          </a:xfrm>
          <a:prstGeom prst="rect">
            <a:avLst/>
          </a:prstGeom>
          <a:noFill/>
        </p:spPr>
        <p:txBody>
          <a:bodyPr wrap="none" lIns="0" rIns="0" tIns="0" bIns="0">
            <a:spAutoFit/>
          </a:bodyPr>
          <a:lstStyle/>
          <a:p>
            <a:pPr>
              <a:defRPr sz="900">
                <a:solidFill>
                  <a:srgbClr val="64748B"/>
                </a:solidFill>
              </a:defRPr>
            </a:pPr>
            <a:r>
              <a:t>UC8: Robotic Arm Conveyor Pick-and-Place with Obstacle Avoidance | VGU Robotic Project (Week 04)</a:t>
            </a:r>
          </a:p>
        </p:txBody>
      </p:sp>
      <p:sp>
        <p:nvSpPr>
          <p:cNvPr id="7" name="TextBox 6"/>
          <p:cNvSpPr txBox="1"/>
          <p:nvPr/>
        </p:nvSpPr>
        <p:spPr>
          <a:xfrm>
            <a:off x="10058400" y="6382512"/>
            <a:ext cx="1401775" cy="274320"/>
          </a:xfrm>
          <a:prstGeom prst="rect">
            <a:avLst/>
          </a:prstGeom>
          <a:noFill/>
        </p:spPr>
        <p:txBody>
          <a:bodyPr wrap="none" lIns="0" rIns="0" tIns="0" bIns="0">
            <a:spAutoFit/>
          </a:bodyPr>
          <a:lstStyle/>
          <a:p>
            <a:pPr algn="r">
              <a:defRPr sz="900" b="1">
                <a:solidFill>
                  <a:srgbClr val="0284C7"/>
                </a:solidFill>
              </a:defRPr>
            </a:pPr>
            <a:r>
              <a:t>Slide 07</a:t>
            </a:r>
          </a:p>
        </p:txBody>
      </p:sp>
      <p:sp>
        <p:nvSpPr>
          <p:cNvPr id="8" name="Rounded Rectangle 7"/>
          <p:cNvSpPr/>
          <p:nvPr/>
        </p:nvSpPr>
        <p:spPr>
          <a:xfrm>
            <a:off x="731520" y="1463040"/>
            <a:ext cx="5212080" cy="45720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645920"/>
            <a:ext cx="4846320" cy="4206240"/>
          </a:xfrm>
          <a:prstGeom prst="rect">
            <a:avLst/>
          </a:prstGeom>
          <a:noFill/>
        </p:spPr>
        <p:txBody>
          <a:bodyPr wrap="square">
            <a:spAutoFit/>
          </a:bodyPr>
          <a:lstStyle/>
          <a:p>
            <a:pPr>
              <a:spcAft>
                <a:spcPts val="1000"/>
              </a:spcAft>
              <a:defRPr sz="1300" b="1">
                <a:solidFill>
                  <a:srgbClr val="0F2B48"/>
                </a:solidFill>
              </a:defRPr>
            </a:pPr>
            <a:r>
              <a:t>Motion Strategy</a:t>
            </a:r>
          </a:p>
          <a:p>
            <a:pPr>
              <a:spcAft>
                <a:spcPts val="600"/>
              </a:spcAft>
            </a:pPr>
            <a:r>
              <a:rPr b="1" sz="1000">
                <a:solidFill>
                  <a:srgbClr val="0F2B48"/>
                </a:solidFill>
              </a:rPr>
              <a:t>✔ Downward tool orientation: </a:t>
            </a:r>
            <a:r>
              <a:rPr sz="950">
                <a:solidFill>
                  <a:srgbClr val="1E293B"/>
                </a:solidFill>
              </a:rPr>
              <a:t>tool0 remains vertical ([0, 0, -1]) during approach, grasp and release via locked wrist (q4 = 90.0°).</a:t>
            </a:r>
          </a:p>
          <a:p>
            <a:pPr>
              <a:spcAft>
                <a:spcPts val="600"/>
              </a:spcAft>
            </a:pPr>
            <a:r>
              <a:rPr b="1" sz="1000">
                <a:solidFill>
                  <a:srgbClr val="0F2B48"/>
                </a:solidFill>
              </a:rPr>
              <a:t>✔ Pre-grasp waypoint: </a:t>
            </a:r>
            <a:r>
              <a:rPr sz="950">
                <a:solidFill>
                  <a:srgbClr val="1E293B"/>
                </a:solidFill>
              </a:rPr>
              <a:t>The robot approaches above the target (+15cm) before descending.</a:t>
            </a:r>
          </a:p>
          <a:p>
            <a:pPr>
              <a:spcAft>
                <a:spcPts val="600"/>
              </a:spcAft>
            </a:pPr>
            <a:r>
              <a:rPr b="1" sz="1000">
                <a:solidFill>
                  <a:srgbClr val="0F2B48"/>
                </a:solidFill>
              </a:rPr>
              <a:t>✔ Vertical descent: </a:t>
            </a:r>
            <a:r>
              <a:rPr sz="950">
                <a:solidFill>
                  <a:srgbClr val="1E293B"/>
                </a:solidFill>
              </a:rPr>
              <a:t>The final approach moves along pure Cartesian Z, limiting contact with conveyor rails.</a:t>
            </a:r>
          </a:p>
          <a:p>
            <a:pPr>
              <a:spcAft>
                <a:spcPts val="600"/>
              </a:spcAft>
            </a:pPr>
            <a:r>
              <a:rPr b="1" sz="1000">
                <a:solidFill>
                  <a:srgbClr val="0F2B48"/>
                </a:solidFill>
              </a:rPr>
              <a:t>✔ Lift before transfer: </a:t>
            </a:r>
            <a:r>
              <a:rPr sz="950">
                <a:solidFill>
                  <a:srgbClr val="1E293B"/>
                </a:solidFill>
              </a:rPr>
              <a:t>The cube clears the conveyor (+15cm) before base rotation begins.</a:t>
            </a:r>
          </a:p>
          <a:p>
            <a:pPr>
              <a:spcAft>
                <a:spcPts val="600"/>
              </a:spcAft>
            </a:pPr>
            <a:r>
              <a:rPr b="1" sz="1000">
                <a:solidFill>
                  <a:srgbClr val="0F2B48"/>
                </a:solidFill>
              </a:rPr>
              <a:t>✔ Dominant shoulder pan: </a:t>
            </a:r>
            <a:r>
              <a:rPr sz="950">
                <a:solidFill>
                  <a:srgbClr val="1E293B"/>
                </a:solidFill>
              </a:rPr>
              <a:t>The transfer uses a large base rotation while other joints remain stable like a SCARA crane.</a:t>
            </a:r>
          </a:p>
        </p:txBody>
      </p:sp>
      <p:sp>
        <p:nvSpPr>
          <p:cNvPr id="10" name="Rounded Rectangle 9"/>
          <p:cNvSpPr/>
          <p:nvPr/>
        </p:nvSpPr>
        <p:spPr>
          <a:xfrm>
            <a:off x="6217920" y="1463040"/>
            <a:ext cx="5212080" cy="45720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0" y="1645920"/>
            <a:ext cx="4846320" cy="4206240"/>
          </a:xfrm>
          <a:prstGeom prst="rect">
            <a:avLst/>
          </a:prstGeom>
          <a:noFill/>
        </p:spPr>
        <p:txBody>
          <a:bodyPr wrap="square">
            <a:spAutoFit/>
          </a:bodyPr>
          <a:lstStyle/>
          <a:p>
            <a:pPr>
              <a:spcAft>
                <a:spcPts val="1000"/>
              </a:spcAft>
              <a:defRPr sz="1300" b="1">
                <a:solidFill>
                  <a:srgbClr val="0284C7"/>
                </a:solidFill>
              </a:defRPr>
            </a:pPr>
            <a:r>
              <a:t>Kinematic Joint Profiles &amp; Singularity Guards</a:t>
            </a:r>
          </a:p>
          <a:p>
            <a:pPr>
              <a:spcAft>
                <a:spcPts val="600"/>
              </a:spcAft>
            </a:pPr>
            <a:r>
              <a:rPr b="1" sz="1000">
                <a:solidFill>
                  <a:srgbClr val="0F2B48"/>
                </a:solidFill>
              </a:rPr>
              <a:t>⚙ Standby Pose: </a:t>
            </a:r>
            <a:r>
              <a:rPr sz="950">
                <a:solidFill>
                  <a:srgbClr val="1E293B"/>
                </a:solidFill>
              </a:rPr>
              <a:t>[+16.9°, -84.6°, -121.9°, -63.2°, +90.0°, +30.3°] hovering over pick zone at Z = 0.42 m.</a:t>
            </a:r>
          </a:p>
          <a:p>
            <a:pPr>
              <a:spcAft>
                <a:spcPts val="600"/>
              </a:spcAft>
            </a:pPr>
            <a:r>
              <a:rPr b="1" sz="1000">
                <a:solidFill>
                  <a:srgbClr val="0F2B48"/>
                </a:solidFill>
              </a:rPr>
              <a:t>⚙ Red Bin (Left): </a:t>
            </a:r>
            <a:r>
              <a:rPr sz="950">
                <a:solidFill>
                  <a:srgbClr val="1E293B"/>
                </a:solidFill>
              </a:rPr>
              <a:t>Pan sweeps -78.4° CCW to -61.5°; arm elevation remains virtually fixed.</a:t>
            </a:r>
          </a:p>
          <a:p>
            <a:pPr>
              <a:spcAft>
                <a:spcPts val="600"/>
              </a:spcAft>
            </a:pPr>
            <a:r>
              <a:rPr b="1" sz="1000">
                <a:solidFill>
                  <a:srgbClr val="0F2B48"/>
                </a:solidFill>
              </a:rPr>
              <a:t>⚙ Yellow Bin (Right): </a:t>
            </a:r>
            <a:r>
              <a:rPr sz="950">
                <a:solidFill>
                  <a:srgbClr val="1E293B"/>
                </a:solidFill>
              </a:rPr>
              <a:t>Pan sweeps +80.9° CW to +97.8°; constant arm profile.</a:t>
            </a:r>
          </a:p>
          <a:p>
            <a:pPr>
              <a:spcAft>
                <a:spcPts val="600"/>
              </a:spcAft>
            </a:pPr>
            <a:r>
              <a:rPr b="1" sz="1000">
                <a:solidFill>
                  <a:srgbClr val="0F2B48"/>
                </a:solidFill>
              </a:rPr>
              <a:t>⚙ Blue Bin (Rear): </a:t>
            </a:r>
            <a:r>
              <a:rPr sz="950">
                <a:solidFill>
                  <a:srgbClr val="1E293B"/>
                </a:solidFill>
              </a:rPr>
              <a:t>Pan sweeps 176.5° rearward to -159.6° behind robot.</a:t>
            </a:r>
          </a:p>
          <a:p>
            <a:pPr>
              <a:spcAft>
                <a:spcPts val="600"/>
              </a:spcAft>
            </a:pPr>
            <a:r>
              <a:rPr b="1" sz="1000">
                <a:solidFill>
                  <a:srgbClr val="0F2B48"/>
                </a:solidFill>
              </a:rPr>
              <a:t>⚙ Cycle Reduction: </a:t>
            </a:r>
            <a:r>
              <a:rPr sz="950">
                <a:solidFill>
                  <a:srgbClr val="1E293B"/>
                </a:solidFill>
              </a:rPr>
              <a:t>Single-joint sweep cuts path length by 65% and cycle time to 11.2s.</a:t>
            </a:r>
          </a:p>
          <a:p>
            <a:pPr>
              <a:spcAft>
                <a:spcPts val="600"/>
              </a:spcAft>
            </a:pPr>
            <a:r>
              <a:rPr b="1" sz="1000">
                <a:solidFill>
                  <a:srgbClr val="0F2B48"/>
                </a:solidFill>
              </a:rPr>
              <a:t>⚙ Safety check: </a:t>
            </a:r>
            <a:r>
              <a:rPr sz="950">
                <a:solidFill>
                  <a:srgbClr val="1E293B"/>
                </a:solidFill>
              </a:rPr>
              <a:t>Do not execute when planning fails or when the returned trajectory has zero points.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9144000" cy="274320"/>
          </a:xfrm>
          <a:prstGeom prst="rect">
            <a:avLst/>
          </a:prstGeom>
          <a:noFill/>
        </p:spPr>
        <p:txBody>
          <a:bodyPr wrap="square" lIns="0" rIns="0" tIns="0" bIns="0">
            <a:spAutoFit/>
          </a:bodyPr>
          <a:lstStyle/>
          <a:p>
            <a:pPr>
              <a:defRPr sz="1000" b="1">
                <a:solidFill>
                  <a:srgbClr val="0284C7"/>
                </a:solidFill>
              </a:defRPr>
            </a:pPr>
            <a:r>
              <a:t>PHYSICS AND VISUALS</a:t>
            </a:r>
          </a:p>
        </p:txBody>
      </p:sp>
      <p:sp>
        <p:nvSpPr>
          <p:cNvPr id="3" name="TextBox 2"/>
          <p:cNvSpPr txBox="1"/>
          <p:nvPr/>
        </p:nvSpPr>
        <p:spPr>
          <a:xfrm>
            <a:off x="731520" y="621792"/>
            <a:ext cx="10515600" cy="548640"/>
          </a:xfrm>
          <a:prstGeom prst="rect">
            <a:avLst/>
          </a:prstGeom>
          <a:noFill/>
        </p:spPr>
        <p:txBody>
          <a:bodyPr wrap="square" lIns="0" rIns="0" tIns="0" bIns="0">
            <a:spAutoFit/>
          </a:bodyPr>
          <a:lstStyle/>
          <a:p>
            <a:pPr>
              <a:defRPr sz="2000" b="1">
                <a:solidFill>
                  <a:srgbClr val="0F2B48"/>
                </a:solidFill>
              </a:defRPr>
            </a:pPr>
            <a:r>
              <a:t>Conveyor Motion and Pick-Zone Stopping</a:t>
            </a:r>
          </a:p>
        </p:txBody>
      </p:sp>
      <p:sp>
        <p:nvSpPr>
          <p:cNvPr id="4" name="Rectangle 3"/>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6309360"/>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82512"/>
            <a:ext cx="8686800" cy="274320"/>
          </a:xfrm>
          <a:prstGeom prst="rect">
            <a:avLst/>
          </a:prstGeom>
          <a:noFill/>
        </p:spPr>
        <p:txBody>
          <a:bodyPr wrap="none" lIns="0" rIns="0" tIns="0" bIns="0">
            <a:spAutoFit/>
          </a:bodyPr>
          <a:lstStyle/>
          <a:p>
            <a:pPr>
              <a:defRPr sz="900">
                <a:solidFill>
                  <a:srgbClr val="64748B"/>
                </a:solidFill>
              </a:defRPr>
            </a:pPr>
            <a:r>
              <a:t>UC8: Robotic Arm Conveyor Pick-and-Place with Obstacle Avoidance | VGU Robotic Project (Week 04)</a:t>
            </a:r>
          </a:p>
        </p:txBody>
      </p:sp>
      <p:sp>
        <p:nvSpPr>
          <p:cNvPr id="7" name="TextBox 6"/>
          <p:cNvSpPr txBox="1"/>
          <p:nvPr/>
        </p:nvSpPr>
        <p:spPr>
          <a:xfrm>
            <a:off x="10058400" y="6382512"/>
            <a:ext cx="1401775" cy="274320"/>
          </a:xfrm>
          <a:prstGeom prst="rect">
            <a:avLst/>
          </a:prstGeom>
          <a:noFill/>
        </p:spPr>
        <p:txBody>
          <a:bodyPr wrap="none" lIns="0" rIns="0" tIns="0" bIns="0">
            <a:spAutoFit/>
          </a:bodyPr>
          <a:lstStyle/>
          <a:p>
            <a:pPr algn="r">
              <a:defRPr sz="900" b="1">
                <a:solidFill>
                  <a:srgbClr val="0284C7"/>
                </a:solidFill>
              </a:defRPr>
            </a:pPr>
            <a:r>
              <a:t>Slide 08</a:t>
            </a:r>
          </a:p>
        </p:txBody>
      </p:sp>
      <p:sp>
        <p:nvSpPr>
          <p:cNvPr id="8" name="Rounded Rectangle 7"/>
          <p:cNvSpPr/>
          <p:nvPr/>
        </p:nvSpPr>
        <p:spPr>
          <a:xfrm>
            <a:off x="731520" y="1463040"/>
            <a:ext cx="5212080" cy="45720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645920"/>
            <a:ext cx="4846320" cy="4206240"/>
          </a:xfrm>
          <a:prstGeom prst="rect">
            <a:avLst/>
          </a:prstGeom>
          <a:noFill/>
        </p:spPr>
        <p:txBody>
          <a:bodyPr wrap="square">
            <a:spAutoFit/>
          </a:bodyPr>
          <a:lstStyle/>
          <a:p>
            <a:pPr>
              <a:spcAft>
                <a:spcPts val="1000"/>
              </a:spcAft>
              <a:defRPr sz="1300" b="1">
                <a:solidFill>
                  <a:srgbClr val="059669"/>
                </a:solidFill>
              </a:defRPr>
            </a:pPr>
            <a:r>
              <a:t>Runtime Behaviour &amp; Natural Friction Deceleration</a:t>
            </a:r>
          </a:p>
          <a:p>
            <a:pPr>
              <a:spcAft>
                <a:spcPts val="600"/>
              </a:spcAft>
            </a:pPr>
            <a:r>
              <a:rPr b="1" sz="1000">
                <a:solidFill>
                  <a:srgbClr val="0F2B48"/>
                </a:solidFill>
              </a:rPr>
              <a:t>✔ Transport: </a:t>
            </a:r>
            <a:r>
              <a:rPr sz="950">
                <a:solidFill>
                  <a:srgbClr val="1E293B"/>
                </a:solidFill>
              </a:rPr>
              <a:t>Objects move at the configured conveyor speed (rock-steady 0.30 m/s).</a:t>
            </a:r>
          </a:p>
          <a:p>
            <a:pPr>
              <a:spcAft>
                <a:spcPts val="600"/>
              </a:spcAft>
            </a:pPr>
            <a:r>
              <a:rPr b="1" sz="1000">
                <a:solidFill>
                  <a:srgbClr val="0F2B48"/>
                </a:solidFill>
              </a:rPr>
              <a:t>✔ Detection: </a:t>
            </a:r>
            <a:r>
              <a:rPr sz="950">
                <a:solidFill>
                  <a:srgbClr val="1E293B"/>
                </a:solidFill>
              </a:rPr>
              <a:t>The pick-zone optical trigger identifies every SortableObject cube.</a:t>
            </a:r>
          </a:p>
          <a:p>
            <a:pPr>
              <a:spcAft>
                <a:spcPts val="600"/>
              </a:spcAft>
            </a:pPr>
            <a:r>
              <a:rPr b="1" sz="1000">
                <a:solidFill>
                  <a:srgbClr val="0F2B48"/>
                </a:solidFill>
              </a:rPr>
              <a:t>✔ Stop: </a:t>
            </a:r>
            <a:r>
              <a:rPr sz="950">
                <a:solidFill>
                  <a:srgbClr val="1E293B"/>
                </a:solidFill>
              </a:rPr>
              <a:t>At X &gt;= -0.015 m, conveyor power cuts (StopConveyor()). Natural friction (0.8) halts cube smoothly at X ≈ 0.000 m (± 3 mm deviation).</a:t>
            </a:r>
          </a:p>
          <a:p>
            <a:pPr>
              <a:spcAft>
                <a:spcPts val="600"/>
              </a:spcAft>
            </a:pPr>
            <a:r>
              <a:rPr b="1" sz="1000">
                <a:solidFill>
                  <a:srgbClr val="0F2B48"/>
                </a:solidFill>
              </a:rPr>
              <a:t>✔ Zero Teleportation: </a:t>
            </a:r>
            <a:r>
              <a:rPr sz="950">
                <a:solidFill>
                  <a:srgbClr val="1E293B"/>
                </a:solidFill>
              </a:rPr>
              <a:t>Strictly eliminates artificial coordinate snapping (transform.position) or freezing (isKinematic).</a:t>
            </a:r>
          </a:p>
          <a:p>
            <a:pPr>
              <a:spcAft>
                <a:spcPts val="600"/>
              </a:spcAft>
            </a:pPr>
            <a:r>
              <a:rPr b="1" sz="1000">
                <a:solidFill>
                  <a:srgbClr val="0F2B48"/>
                </a:solidFill>
              </a:rPr>
              <a:t>✔ Resume: </a:t>
            </a:r>
            <a:r>
              <a:rPr sz="950">
                <a:solidFill>
                  <a:srgbClr val="1E293B"/>
                </a:solidFill>
              </a:rPr>
              <a:t>The conveyor restarts after cube handling and release into bin.</a:t>
            </a:r>
          </a:p>
        </p:txBody>
      </p:sp>
      <p:sp>
        <p:nvSpPr>
          <p:cNvPr id="10" name="Rounded Rectangle 9"/>
          <p:cNvSpPr/>
          <p:nvPr/>
        </p:nvSpPr>
        <p:spPr>
          <a:xfrm>
            <a:off x="6217920" y="1463040"/>
            <a:ext cx="5212080" cy="45720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0" y="1645920"/>
            <a:ext cx="4846320" cy="4206240"/>
          </a:xfrm>
          <a:prstGeom prst="rect">
            <a:avLst/>
          </a:prstGeom>
          <a:noFill/>
        </p:spPr>
        <p:txBody>
          <a:bodyPr wrap="square">
            <a:spAutoFit/>
          </a:bodyPr>
          <a:lstStyle/>
          <a:p>
            <a:pPr>
              <a:spcAft>
                <a:spcPts val="1000"/>
              </a:spcAft>
              <a:defRPr sz="1300" b="1">
                <a:solidFill>
                  <a:srgbClr val="0284C7"/>
                </a:solidFill>
              </a:defRPr>
            </a:pPr>
            <a:r>
              <a:t>Multi-Item Flow &amp; Visual Rig Consistency</a:t>
            </a:r>
          </a:p>
          <a:p>
            <a:pPr>
              <a:spcAft>
                <a:spcPts val="600"/>
              </a:spcAft>
            </a:pPr>
            <a:r>
              <a:rPr b="1" sz="1000">
                <a:solidFill>
                  <a:srgbClr val="0F2B48"/>
                </a:solidFill>
              </a:rPr>
              <a:t>⚙ Continuous Multi-Item Flow: </a:t>
            </a:r>
            <a:r>
              <a:rPr sz="950">
                <a:solidFill>
                  <a:srgbClr val="1E293B"/>
                </a:solidFill>
              </a:rPr>
              <a:t>Upgraded Spawner maintains 2-3 active cubes on belt simultaneously, providing continuous sorting.</a:t>
            </a:r>
          </a:p>
          <a:p>
            <a:pPr>
              <a:spcAft>
                <a:spcPts val="600"/>
              </a:spcAft>
            </a:pPr>
            <a:r>
              <a:rPr b="1" sz="1000">
                <a:solidFill>
                  <a:srgbClr val="0F2B48"/>
                </a:solidFill>
              </a:rPr>
              <a:t>⚙ Anti-Stacking Spacing: </a:t>
            </a:r>
            <a:r>
              <a:rPr sz="950">
                <a:solidFill>
                  <a:srgbClr val="1E293B"/>
                </a:solidFill>
              </a:rPr>
              <a:t>Strict 38 cm minimum spacing (IsSpawnAreaClear()) prevents any cube collisions or stacking at the spawn head.</a:t>
            </a:r>
          </a:p>
          <a:p>
            <a:pPr>
              <a:spcAft>
                <a:spcPts val="600"/>
              </a:spcAft>
            </a:pPr>
            <a:r>
              <a:rPr b="1" sz="1000">
                <a:solidFill>
                  <a:srgbClr val="0F2B48"/>
                </a:solidFill>
              </a:rPr>
              <a:t>⚙ Visual consistency: </a:t>
            </a:r>
            <a:r>
              <a:rPr sz="950">
                <a:solidFill>
                  <a:srgbClr val="1E293B"/>
                </a:solidFill>
              </a:rPr>
              <a:t>Belt texture speed (UV scrolling) is synchronized 1:1 with physical object motion at 0.30 m/s.</a:t>
            </a:r>
          </a:p>
          <a:p>
            <a:pPr>
              <a:spcAft>
                <a:spcPts val="600"/>
              </a:spcAft>
            </a:pPr>
            <a:r>
              <a:rPr b="1" sz="1000">
                <a:solidFill>
                  <a:srgbClr val="0F2B48"/>
                </a:solidFill>
              </a:rPr>
              <a:t>⚙ Mechanical Rig Structure: </a:t>
            </a:r>
            <a:r>
              <a:rPr sz="950">
                <a:solidFill>
                  <a:srgbClr val="1E293B"/>
                </a:solidFill>
              </a:rPr>
              <a:t>Ribbed rubber belt, dual aluminum extrusion guide rails, dual chrome rollers, and gearmotor unit.</a:t>
            </a:r>
          </a:p>
          <a:p>
            <a:pPr>
              <a:spcAft>
                <a:spcPts val="600"/>
              </a:spcAft>
            </a:pPr>
            <a:r>
              <a:rPr b="1" sz="1000">
                <a:solidFill>
                  <a:srgbClr val="0F2B48"/>
                </a:solidFill>
              </a:rPr>
              <a:t>⚙ Optical Sensor LED: </a:t>
            </a:r>
            <a:r>
              <a:rPr sz="950">
                <a:solidFill>
                  <a:srgbClr val="1E293B"/>
                </a:solidFill>
              </a:rPr>
              <a:t>Dual-color indicator displays Green when running, switching to Red when cube stops at pick center.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9144000" cy="274320"/>
          </a:xfrm>
          <a:prstGeom prst="rect">
            <a:avLst/>
          </a:prstGeom>
          <a:noFill/>
        </p:spPr>
        <p:txBody>
          <a:bodyPr wrap="square" lIns="0" rIns="0" tIns="0" bIns="0">
            <a:spAutoFit/>
          </a:bodyPr>
          <a:lstStyle/>
          <a:p>
            <a:pPr>
              <a:defRPr sz="1000" b="1">
                <a:solidFill>
                  <a:srgbClr val="0284C7"/>
                </a:solidFill>
              </a:defRPr>
            </a:pPr>
            <a:r>
              <a:t>AUTOMATION PIPELINE</a:t>
            </a:r>
          </a:p>
        </p:txBody>
      </p:sp>
      <p:sp>
        <p:nvSpPr>
          <p:cNvPr id="3" name="TextBox 2"/>
          <p:cNvSpPr txBox="1"/>
          <p:nvPr/>
        </p:nvSpPr>
        <p:spPr>
          <a:xfrm>
            <a:off x="731520" y="621792"/>
            <a:ext cx="10515600" cy="548640"/>
          </a:xfrm>
          <a:prstGeom prst="rect">
            <a:avLst/>
          </a:prstGeom>
          <a:noFill/>
        </p:spPr>
        <p:txBody>
          <a:bodyPr wrap="square" lIns="0" rIns="0" tIns="0" bIns="0">
            <a:spAutoFit/>
          </a:bodyPr>
          <a:lstStyle/>
          <a:p>
            <a:pPr>
              <a:defRPr sz="2000" b="1">
                <a:solidFill>
                  <a:srgbClr val="0F2B48"/>
                </a:solidFill>
              </a:defRPr>
            </a:pPr>
            <a:r>
              <a:t>Pick-and-Place Task State Machine</a:t>
            </a:r>
          </a:p>
        </p:txBody>
      </p:sp>
      <p:sp>
        <p:nvSpPr>
          <p:cNvPr id="4" name="Rectangle 3"/>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6309360"/>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82512"/>
            <a:ext cx="8686800" cy="274320"/>
          </a:xfrm>
          <a:prstGeom prst="rect">
            <a:avLst/>
          </a:prstGeom>
          <a:noFill/>
        </p:spPr>
        <p:txBody>
          <a:bodyPr wrap="none" lIns="0" rIns="0" tIns="0" bIns="0">
            <a:spAutoFit/>
          </a:bodyPr>
          <a:lstStyle/>
          <a:p>
            <a:pPr>
              <a:defRPr sz="900">
                <a:solidFill>
                  <a:srgbClr val="64748B"/>
                </a:solidFill>
              </a:defRPr>
            </a:pPr>
            <a:r>
              <a:t>UC8: Robotic Arm Conveyor Pick-and-Place with Obstacle Avoidance | VGU Robotic Project (Week 04)</a:t>
            </a:r>
          </a:p>
        </p:txBody>
      </p:sp>
      <p:sp>
        <p:nvSpPr>
          <p:cNvPr id="7" name="TextBox 6"/>
          <p:cNvSpPr txBox="1"/>
          <p:nvPr/>
        </p:nvSpPr>
        <p:spPr>
          <a:xfrm>
            <a:off x="10058400" y="6382512"/>
            <a:ext cx="1401775" cy="274320"/>
          </a:xfrm>
          <a:prstGeom prst="rect">
            <a:avLst/>
          </a:prstGeom>
          <a:noFill/>
        </p:spPr>
        <p:txBody>
          <a:bodyPr wrap="none" lIns="0" rIns="0" tIns="0" bIns="0">
            <a:spAutoFit/>
          </a:bodyPr>
          <a:lstStyle/>
          <a:p>
            <a:pPr algn="r">
              <a:defRPr sz="900" b="1">
                <a:solidFill>
                  <a:srgbClr val="0284C7"/>
                </a:solidFill>
              </a:defRPr>
            </a:pPr>
            <a:r>
              <a:t>Slide 09</a:t>
            </a:r>
          </a:p>
        </p:txBody>
      </p:sp>
      <p:graphicFrame>
        <p:nvGraphicFramePr>
          <p:cNvPr id="8" name="Table 7"/>
          <p:cNvGraphicFramePr>
            <a:graphicFrameLocks noGrp="1"/>
          </p:cNvGraphicFramePr>
          <p:nvPr/>
        </p:nvGraphicFramePr>
        <p:xfrm>
          <a:off x="731520" y="1463040"/>
          <a:ext cx="10728655" cy="3657600"/>
        </p:xfrm>
        <a:graphic>
          <a:graphicData uri="http://schemas.openxmlformats.org/drawingml/2006/table">
            <a:tbl>
              <a:tblPr firstRow="1" bandRow="1">
                <a:tableStyleId>{5C22544A-7EE6-4342-B048-85BDC9FD1C3A}</a:tableStyleId>
              </a:tblPr>
              <a:tblGrid>
                <a:gridCol w="731520"/>
                <a:gridCol w="1645920"/>
                <a:gridCol w="4389120"/>
                <a:gridCol w="3962095"/>
              </a:tblGrid>
              <a:tr h="457200">
                <a:tc>
                  <a:txBody>
                    <a:bodyPr/>
                    <a:lstStyle/>
                    <a:p>
                      <a:pPr>
                        <a:defRPr sz="1100" b="1">
                          <a:solidFill>
                            <a:srgbClr val="F1F5F9"/>
                          </a:solidFill>
                        </a:defRPr>
                      </a:pPr>
                      <a:r>
                        <a:t>Step</a:t>
                      </a:r>
                    </a:p>
                  </a:txBody>
                  <a:tcPr anchor="ctr" marL="109728" marR="109728">
                    <a:solidFill>
                      <a:srgbClr val="0F2B48"/>
                    </a:solidFill>
                  </a:tcPr>
                </a:tc>
                <a:tc>
                  <a:txBody>
                    <a:bodyPr/>
                    <a:lstStyle/>
                    <a:p>
                      <a:pPr>
                        <a:defRPr sz="1100" b="1">
                          <a:solidFill>
                            <a:srgbClr val="F1F5F9"/>
                          </a:solidFill>
                        </a:defRPr>
                      </a:pPr>
                      <a:r>
                        <a:t>State</a:t>
                      </a:r>
                    </a:p>
                  </a:txBody>
                  <a:tcPr anchor="ctr" marL="109728" marR="109728">
                    <a:solidFill>
                      <a:srgbClr val="0F2B48"/>
                    </a:solidFill>
                  </a:tcPr>
                </a:tc>
                <a:tc>
                  <a:txBody>
                    <a:bodyPr/>
                    <a:lstStyle/>
                    <a:p>
                      <a:pPr>
                        <a:defRPr sz="1100" b="1">
                          <a:solidFill>
                            <a:srgbClr val="F1F5F9"/>
                          </a:solidFill>
                        </a:defRPr>
                      </a:pPr>
                      <a:r>
                        <a:t>Main Action</a:t>
                      </a:r>
                    </a:p>
                  </a:txBody>
                  <a:tcPr anchor="ctr" marL="109728" marR="109728">
                    <a:solidFill>
                      <a:srgbClr val="0F2B48"/>
                    </a:solidFill>
                  </a:tcPr>
                </a:tc>
                <a:tc>
                  <a:txBody>
                    <a:bodyPr/>
                    <a:lstStyle/>
                    <a:p>
                      <a:pPr>
                        <a:defRPr sz="1100" b="1">
                          <a:solidFill>
                            <a:srgbClr val="F1F5F9"/>
                          </a:solidFill>
                        </a:defRPr>
                      </a:pPr>
                      <a:r>
                        <a:t>Execution Guarantees</a:t>
                      </a:r>
                    </a:p>
                  </a:txBody>
                  <a:tcPr anchor="ctr" marL="109728" marR="109728">
                    <a:solidFill>
                      <a:srgbClr val="0F2B48"/>
                    </a:solidFill>
                  </a:tcPr>
                </a:tc>
              </a:tr>
              <a:tr h="457200">
                <a:tc>
                  <a:txBody>
                    <a:bodyPr/>
                    <a:lstStyle/>
                    <a:p>
                      <a:pPr>
                        <a:defRPr sz="1000" b="1">
                          <a:solidFill>
                            <a:srgbClr val="1E293B"/>
                          </a:solidFill>
                        </a:defRPr>
                      </a:pPr>
                      <a:r>
                        <a:t>1</a:t>
                      </a:r>
                    </a:p>
                  </a:txBody>
                  <a:tcPr anchor="ctr" marL="109728" marR="109728">
                    <a:solidFill>
                      <a:srgbClr val="FFFFFF"/>
                    </a:solidFill>
                  </a:tcPr>
                </a:tc>
                <a:tc>
                  <a:txBody>
                    <a:bodyPr/>
                    <a:lstStyle/>
                    <a:p>
                      <a:pPr>
                        <a:defRPr sz="1000">
                          <a:solidFill>
                            <a:srgbClr val="1E293B"/>
                          </a:solidFill>
                        </a:defRPr>
                      </a:pPr>
                      <a:r>
                        <a:t>STANDBY</a:t>
                      </a:r>
                    </a:p>
                  </a:txBody>
                  <a:tcPr anchor="ctr" marL="109728" marR="109728">
                    <a:solidFill>
                      <a:srgbClr val="FFFFFF"/>
                    </a:solidFill>
                  </a:tcPr>
                </a:tc>
                <a:tc>
                  <a:txBody>
                    <a:bodyPr/>
                    <a:lstStyle/>
                    <a:p>
                      <a:pPr>
                        <a:defRPr sz="1000">
                          <a:solidFill>
                            <a:srgbClr val="1E293B"/>
                          </a:solidFill>
                        </a:defRPr>
                      </a:pPr>
                      <a:r>
                        <a:t>Wait above the pick zone (Z = 0.42 m)</a:t>
                      </a:r>
                    </a:p>
                  </a:txBody>
                  <a:tcPr anchor="ctr" marL="109728" marR="109728">
                    <a:solidFill>
                      <a:srgbClr val="FFFFFF"/>
                    </a:solidFill>
                  </a:tcPr>
                </a:tc>
                <a:tc>
                  <a:txBody>
                    <a:bodyPr/>
                    <a:lstStyle/>
                    <a:p>
                      <a:pPr>
                        <a:defRPr sz="1000">
                          <a:solidFill>
                            <a:srgbClr val="1E293B"/>
                          </a:solidFill>
                        </a:defRPr>
                      </a:pPr>
                      <a:r>
                        <a:t>Downward tool0 lock; ready for incoming cubes</a:t>
                      </a:r>
                    </a:p>
                  </a:txBody>
                  <a:tcPr anchor="ctr" marL="109728" marR="109728">
                    <a:solidFill>
                      <a:srgbClr val="FFFFFF"/>
                    </a:solidFill>
                  </a:tcPr>
                </a:tc>
              </a:tr>
              <a:tr h="457200">
                <a:tc>
                  <a:txBody>
                    <a:bodyPr/>
                    <a:lstStyle/>
                    <a:p>
                      <a:pPr>
                        <a:defRPr sz="1000" b="1">
                          <a:solidFill>
                            <a:srgbClr val="1E293B"/>
                          </a:solidFill>
                        </a:defRPr>
                      </a:pPr>
                      <a:r>
                        <a:t>2</a:t>
                      </a:r>
                    </a:p>
                  </a:txBody>
                  <a:tcPr anchor="ctr" marL="109728" marR="109728">
                    <a:solidFill>
                      <a:srgbClr val="F1F5F9"/>
                    </a:solidFill>
                  </a:tcPr>
                </a:tc>
                <a:tc>
                  <a:txBody>
                    <a:bodyPr/>
                    <a:lstStyle/>
                    <a:p>
                      <a:pPr>
                        <a:defRPr sz="1000">
                          <a:solidFill>
                            <a:srgbClr val="1E293B"/>
                          </a:solidFill>
                        </a:defRPr>
                      </a:pPr>
                      <a:r>
                        <a:t>APPROACH</a:t>
                      </a:r>
                    </a:p>
                  </a:txBody>
                  <a:tcPr anchor="ctr" marL="109728" marR="109728">
                    <a:solidFill>
                      <a:srgbClr val="F1F5F9"/>
                    </a:solidFill>
                  </a:tcPr>
                </a:tc>
                <a:tc>
                  <a:txBody>
                    <a:bodyPr/>
                    <a:lstStyle/>
                    <a:p>
                      <a:pPr>
                        <a:defRPr sz="1000">
                          <a:solidFill>
                            <a:srgbClr val="1E293B"/>
                          </a:solidFill>
                        </a:defRPr>
                      </a:pPr>
                      <a:r>
                        <a:t>Plan to the pre-grasp pose (+15 cm)</a:t>
                      </a:r>
                    </a:p>
                  </a:txBody>
                  <a:tcPr anchor="ctr" marL="109728" marR="109728">
                    <a:solidFill>
                      <a:srgbClr val="F1F5F9"/>
                    </a:solidFill>
                  </a:tcPr>
                </a:tc>
                <a:tc>
                  <a:txBody>
                    <a:bodyPr/>
                    <a:lstStyle/>
                    <a:p>
                      <a:pPr>
                        <a:defRPr sz="1000">
                          <a:solidFill>
                            <a:srgbClr val="1E293B"/>
                          </a:solidFill>
                        </a:defRPr>
                      </a:pPr>
                      <a:r>
                        <a:t>Rapid Cartesian descent in &lt; 0.5 s clearing rails</a:t>
                      </a:r>
                    </a:p>
                  </a:txBody>
                  <a:tcPr anchor="ctr" marL="109728" marR="109728">
                    <a:solidFill>
                      <a:srgbClr val="F1F5F9"/>
                    </a:solidFill>
                  </a:tcPr>
                </a:tc>
              </a:tr>
              <a:tr h="457200">
                <a:tc>
                  <a:txBody>
                    <a:bodyPr/>
                    <a:lstStyle/>
                    <a:p>
                      <a:pPr>
                        <a:defRPr sz="1000" b="1">
                          <a:solidFill>
                            <a:srgbClr val="1E293B"/>
                          </a:solidFill>
                        </a:defRPr>
                      </a:pPr>
                      <a:r>
                        <a:t>3</a:t>
                      </a:r>
                    </a:p>
                  </a:txBody>
                  <a:tcPr anchor="ctr" marL="109728" marR="109728">
                    <a:solidFill>
                      <a:srgbClr val="FFFFFF"/>
                    </a:solidFill>
                  </a:tcPr>
                </a:tc>
                <a:tc>
                  <a:txBody>
                    <a:bodyPr/>
                    <a:lstStyle/>
                    <a:p>
                      <a:pPr>
                        <a:defRPr sz="1000">
                          <a:solidFill>
                            <a:srgbClr val="1E293B"/>
                          </a:solidFill>
                        </a:defRPr>
                      </a:pPr>
                      <a:r>
                        <a:t>DESCEND</a:t>
                      </a:r>
                    </a:p>
                  </a:txBody>
                  <a:tcPr anchor="ctr" marL="109728" marR="109728">
                    <a:solidFill>
                      <a:srgbClr val="FFFFFF"/>
                    </a:solidFill>
                  </a:tcPr>
                </a:tc>
                <a:tc>
                  <a:txBody>
                    <a:bodyPr/>
                    <a:lstStyle/>
                    <a:p>
                      <a:pPr>
                        <a:defRPr sz="1000">
                          <a:solidFill>
                            <a:srgbClr val="1E293B"/>
                          </a:solidFill>
                        </a:defRPr>
                      </a:pPr>
                      <a:r>
                        <a:t>Move vertically to contact height (+3 cm)</a:t>
                      </a:r>
                    </a:p>
                  </a:txBody>
                  <a:tcPr anchor="ctr" marL="109728" marR="109728">
                    <a:solidFill>
                      <a:srgbClr val="FFFFFF"/>
                    </a:solidFill>
                  </a:tcPr>
                </a:tc>
                <a:tc>
                  <a:txBody>
                    <a:bodyPr/>
                    <a:lstStyle/>
                    <a:p>
                      <a:pPr>
                        <a:defRPr sz="1000">
                          <a:solidFill>
                            <a:srgbClr val="1E293B"/>
                          </a:solidFill>
                        </a:defRPr>
                      </a:pPr>
                      <a:r>
                        <a:t>Precision vertical approach; zero lateral drift</a:t>
                      </a:r>
                    </a:p>
                  </a:txBody>
                  <a:tcPr anchor="ctr" marL="109728" marR="109728">
                    <a:solidFill>
                      <a:srgbClr val="FFFFFF"/>
                    </a:solidFill>
                  </a:tcPr>
                </a:tc>
              </a:tr>
              <a:tr h="457200">
                <a:tc>
                  <a:txBody>
                    <a:bodyPr/>
                    <a:lstStyle/>
                    <a:p>
                      <a:pPr>
                        <a:defRPr sz="1000" b="1">
                          <a:solidFill>
                            <a:srgbClr val="1E293B"/>
                          </a:solidFill>
                        </a:defRPr>
                      </a:pPr>
                      <a:r>
                        <a:t>4</a:t>
                      </a:r>
                    </a:p>
                  </a:txBody>
                  <a:tcPr anchor="ctr" marL="109728" marR="109728">
                    <a:solidFill>
                      <a:srgbClr val="F1F5F9"/>
                    </a:solidFill>
                  </a:tcPr>
                </a:tc>
                <a:tc>
                  <a:txBody>
                    <a:bodyPr/>
                    <a:lstStyle/>
                    <a:p>
                      <a:pPr>
                        <a:defRPr sz="1000">
                          <a:solidFill>
                            <a:srgbClr val="1E293B"/>
                          </a:solidFill>
                        </a:defRPr>
                      </a:pPr>
                      <a:r>
                        <a:t>GRASP</a:t>
                      </a:r>
                    </a:p>
                  </a:txBody>
                  <a:tcPr anchor="ctr" marL="109728" marR="109728">
                    <a:solidFill>
                      <a:srgbClr val="F1F5F9"/>
                    </a:solidFill>
                  </a:tcPr>
                </a:tc>
                <a:tc>
                  <a:txBody>
                    <a:bodyPr/>
                    <a:lstStyle/>
                    <a:p>
                      <a:pPr>
                        <a:defRPr sz="1000">
                          <a:solidFill>
                            <a:srgbClr val="1E293B"/>
                          </a:solidFill>
                        </a:defRPr>
                      </a:pPr>
                      <a:r>
                        <a:t>Attach the object to tool0</a:t>
                      </a:r>
                    </a:p>
                  </a:txBody>
                  <a:tcPr anchor="ctr" marL="109728" marR="109728">
                    <a:solidFill>
                      <a:srgbClr val="F1F5F9"/>
                    </a:solidFill>
                  </a:tcPr>
                </a:tc>
                <a:tc>
                  <a:txBody>
                    <a:bodyPr/>
                    <a:lstStyle/>
                    <a:p>
                      <a:pPr>
                        <a:defRPr sz="1000">
                          <a:solidFill>
                            <a:srgbClr val="1E293B"/>
                          </a:solidFill>
                        </a:defRPr>
                      </a:pPr>
                      <a:r>
                        <a:t>Instant Attach/Parenting logic latching</a:t>
                      </a:r>
                    </a:p>
                  </a:txBody>
                  <a:tcPr anchor="ctr" marL="109728" marR="109728">
                    <a:solidFill>
                      <a:srgbClr val="F1F5F9"/>
                    </a:solidFill>
                  </a:tcPr>
                </a:tc>
              </a:tr>
              <a:tr h="457200">
                <a:tc>
                  <a:txBody>
                    <a:bodyPr/>
                    <a:lstStyle/>
                    <a:p>
                      <a:pPr>
                        <a:defRPr sz="1000" b="1">
                          <a:solidFill>
                            <a:srgbClr val="1E293B"/>
                          </a:solidFill>
                        </a:defRPr>
                      </a:pPr>
                      <a:r>
                        <a:t>5</a:t>
                      </a:r>
                    </a:p>
                  </a:txBody>
                  <a:tcPr anchor="ctr" marL="109728" marR="109728">
                    <a:solidFill>
                      <a:srgbClr val="FFFFFF"/>
                    </a:solidFill>
                  </a:tcPr>
                </a:tc>
                <a:tc>
                  <a:txBody>
                    <a:bodyPr/>
                    <a:lstStyle/>
                    <a:p>
                      <a:pPr>
                        <a:defRPr sz="1000">
                          <a:solidFill>
                            <a:srgbClr val="1E293B"/>
                          </a:solidFill>
                        </a:defRPr>
                      </a:pPr>
                      <a:r>
                        <a:t>LIFT</a:t>
                      </a:r>
                    </a:p>
                  </a:txBody>
                  <a:tcPr anchor="ctr" marL="109728" marR="109728">
                    <a:solidFill>
                      <a:srgbClr val="FFFFFF"/>
                    </a:solidFill>
                  </a:tcPr>
                </a:tc>
                <a:tc>
                  <a:txBody>
                    <a:bodyPr/>
                    <a:lstStyle/>
                    <a:p>
                      <a:pPr>
                        <a:defRPr sz="1000">
                          <a:solidFill>
                            <a:srgbClr val="1E293B"/>
                          </a:solidFill>
                        </a:defRPr>
                      </a:pPr>
                      <a:r>
                        <a:t>Clear the conveyor (+15 cm altitude)</a:t>
                      </a:r>
                    </a:p>
                  </a:txBody>
                  <a:tcPr anchor="ctr" marL="109728" marR="109728">
                    <a:solidFill>
                      <a:srgbClr val="FFFFFF"/>
                    </a:solidFill>
                  </a:tcPr>
                </a:tc>
                <a:tc>
                  <a:txBody>
                    <a:bodyPr/>
                    <a:lstStyle/>
                    <a:p>
                      <a:pPr>
                        <a:defRPr sz="1000">
                          <a:solidFill>
                            <a:srgbClr val="1E293B"/>
                          </a:solidFill>
                        </a:defRPr>
                      </a:pPr>
                      <a:r>
                        <a:t>Elevates target object safely above aluminum rims</a:t>
                      </a:r>
                    </a:p>
                  </a:txBody>
                  <a:tcPr anchor="ctr" marL="109728" marR="109728">
                    <a:solidFill>
                      <a:srgbClr val="FFFFFF"/>
                    </a:solidFill>
                  </a:tcPr>
                </a:tc>
              </a:tr>
              <a:tr h="457200">
                <a:tc>
                  <a:txBody>
                    <a:bodyPr/>
                    <a:lstStyle/>
                    <a:p>
                      <a:pPr>
                        <a:defRPr sz="1000" b="1">
                          <a:solidFill>
                            <a:srgbClr val="1E293B"/>
                          </a:solidFill>
                        </a:defRPr>
                      </a:pPr>
                      <a:r>
                        <a:t>6</a:t>
                      </a:r>
                    </a:p>
                  </a:txBody>
                  <a:tcPr anchor="ctr" marL="109728" marR="109728">
                    <a:solidFill>
                      <a:srgbClr val="F1F5F9"/>
                    </a:solidFill>
                  </a:tcPr>
                </a:tc>
                <a:tc>
                  <a:txBody>
                    <a:bodyPr/>
                    <a:lstStyle/>
                    <a:p>
                      <a:pPr>
                        <a:defRPr sz="1000">
                          <a:solidFill>
                            <a:srgbClr val="1E293B"/>
                          </a:solidFill>
                        </a:defRPr>
                      </a:pPr>
                      <a:r>
                        <a:t>MOVE TO BIN</a:t>
                      </a:r>
                    </a:p>
                  </a:txBody>
                  <a:tcPr anchor="ctr" marL="109728" marR="109728">
                    <a:solidFill>
                      <a:srgbClr val="F1F5F9"/>
                    </a:solidFill>
                  </a:tcPr>
                </a:tc>
                <a:tc>
                  <a:txBody>
                    <a:bodyPr/>
                    <a:lstStyle/>
                    <a:p>
                      <a:pPr>
                        <a:defRPr sz="1000">
                          <a:solidFill>
                            <a:srgbClr val="1E293B"/>
                          </a:solidFill>
                        </a:defRPr>
                      </a:pPr>
                      <a:r>
                        <a:t>Transfer to the selected bin</a:t>
                      </a:r>
                    </a:p>
                  </a:txBody>
                  <a:tcPr anchor="ctr" marL="109728" marR="109728">
                    <a:solidFill>
                      <a:srgbClr val="F1F5F9"/>
                    </a:solidFill>
                  </a:tcPr>
                </a:tc>
                <a:tc>
                  <a:txBody>
                    <a:bodyPr/>
                    <a:lstStyle/>
                    <a:p>
                      <a:pPr>
                        <a:defRPr sz="1000">
                          <a:solidFill>
                            <a:srgbClr val="1E293B"/>
                          </a:solidFill>
                        </a:defRPr>
                      </a:pPr>
                      <a:r>
                        <a:t>Single-joint shoulder_pan rotation sweeps to target</a:t>
                      </a:r>
                    </a:p>
                  </a:txBody>
                  <a:tcPr anchor="ctr" marL="109728" marR="109728">
                    <a:solidFill>
                      <a:srgbClr val="F1F5F9"/>
                    </a:solidFill>
                  </a:tcPr>
                </a:tc>
              </a:tr>
              <a:tr h="457200">
                <a:tc>
                  <a:txBody>
                    <a:bodyPr/>
                    <a:lstStyle/>
                    <a:p>
                      <a:pPr>
                        <a:defRPr sz="1000" b="1">
                          <a:solidFill>
                            <a:srgbClr val="1E293B"/>
                          </a:solidFill>
                        </a:defRPr>
                      </a:pPr>
                      <a:r>
                        <a:t>7</a:t>
                      </a:r>
                    </a:p>
                  </a:txBody>
                  <a:tcPr anchor="ctr" marL="109728" marR="109728">
                    <a:solidFill>
                      <a:srgbClr val="FFFFFF"/>
                    </a:solidFill>
                  </a:tcPr>
                </a:tc>
                <a:tc>
                  <a:txBody>
                    <a:bodyPr/>
                    <a:lstStyle/>
                    <a:p>
                      <a:pPr>
                        <a:defRPr sz="1000">
                          <a:solidFill>
                            <a:srgbClr val="1E293B"/>
                          </a:solidFill>
                        </a:defRPr>
                      </a:pPr>
                      <a:r>
                        <a:t>RELEASE</a:t>
                      </a:r>
                    </a:p>
                  </a:txBody>
                  <a:tcPr anchor="ctr" marL="109728" marR="109728">
                    <a:solidFill>
                      <a:srgbClr val="FFFFFF"/>
                    </a:solidFill>
                  </a:tcPr>
                </a:tc>
                <a:tc>
                  <a:txBody>
                    <a:bodyPr/>
                    <a:lstStyle/>
                    <a:p>
                      <a:pPr>
                        <a:defRPr sz="1000">
                          <a:solidFill>
                            <a:srgbClr val="1E293B"/>
                          </a:solidFill>
                        </a:defRPr>
                      </a:pPr>
                      <a:r>
                        <a:t>Detach object and return to standby</a:t>
                      </a:r>
                    </a:p>
                  </a:txBody>
                  <a:tcPr anchor="ctr" marL="109728" marR="109728">
                    <a:solidFill>
                      <a:srgbClr val="FFFFFF"/>
                    </a:solidFill>
                  </a:tcPr>
                </a:tc>
                <a:tc>
                  <a:txBody>
                    <a:bodyPr/>
                    <a:lstStyle/>
                    <a:p>
                      <a:pPr>
                        <a:defRPr sz="1000">
                          <a:solidFill>
                            <a:srgbClr val="1E293B"/>
                          </a:solidFill>
                        </a:defRPr>
                      </a:pPr>
                      <a:r>
                        <a:t>Restores gravity for soft drop; resumes conveyor</a:t>
                      </a:r>
                    </a:p>
                  </a:txBody>
                  <a:tcPr anchor="ctr" marL="109728" marR="109728">
                    <a:solidFill>
                      <a:srgbClr val="FFFFFF"/>
                    </a:solidFill>
                  </a:tcPr>
                </a:tc>
              </a:tr>
            </a:tbl>
          </a:graphicData>
        </a:graphic>
      </p:graphicFrame>
      <p:sp>
        <p:nvSpPr>
          <p:cNvPr id="9" name="Rounded Rectangle 8"/>
          <p:cNvSpPr/>
          <p:nvPr/>
        </p:nvSpPr>
        <p:spPr>
          <a:xfrm>
            <a:off x="731520" y="5303520"/>
            <a:ext cx="10728655" cy="8686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5376672"/>
            <a:ext cx="10362895" cy="731520"/>
          </a:xfrm>
          <a:prstGeom prst="rect">
            <a:avLst/>
          </a:prstGeom>
          <a:noFill/>
        </p:spPr>
        <p:txBody>
          <a:bodyPr wrap="square">
            <a:spAutoFit/>
          </a:bodyPr>
          <a:lstStyle/>
          <a:p>
            <a:pPr>
              <a:spcAft>
                <a:spcPts val="300"/>
              </a:spcAft>
              <a:defRPr sz="1100" b="1">
                <a:solidFill>
                  <a:srgbClr val="0F2B48"/>
                </a:solidFill>
              </a:defRPr>
            </a:pPr>
            <a:r>
              <a:t>THREAD SAFETY &amp; FAILURE RECOVERY POLICY</a:t>
            </a:r>
          </a:p>
          <a:p>
            <a:pPr>
              <a:defRPr sz="950">
                <a:solidFill>
                  <a:srgbClr val="1E293B"/>
                </a:solidFill>
              </a:defRPr>
            </a:pPr>
            <a:r>
              <a:t>• Thread Isolation: Pick-and-place sequence runs on an independent worker thread to prevent ROS callback starvation.</a:t>
            </a:r>
            <a:br/>
            <a:r>
              <a:t>• Failure Recovery: If planning fails at any stage, execution safely aborts, logs failure stage to trials.csv, and resets arm to STANDBY.</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9144000" cy="274320"/>
          </a:xfrm>
          <a:prstGeom prst="rect">
            <a:avLst/>
          </a:prstGeom>
          <a:noFill/>
        </p:spPr>
        <p:txBody>
          <a:bodyPr wrap="square" lIns="0" rIns="0" tIns="0" bIns="0">
            <a:spAutoFit/>
          </a:bodyPr>
          <a:lstStyle/>
          <a:p>
            <a:pPr>
              <a:defRPr sz="1000" b="1">
                <a:solidFill>
                  <a:srgbClr val="0284C7"/>
                </a:solidFill>
              </a:defRPr>
            </a:pPr>
            <a:r>
              <a:t>QUALITY ASSURANCE</a:t>
            </a:r>
          </a:p>
        </p:txBody>
      </p:sp>
      <p:sp>
        <p:nvSpPr>
          <p:cNvPr id="3" name="TextBox 2"/>
          <p:cNvSpPr txBox="1"/>
          <p:nvPr/>
        </p:nvSpPr>
        <p:spPr>
          <a:xfrm>
            <a:off x="731520" y="621792"/>
            <a:ext cx="10515600" cy="548640"/>
          </a:xfrm>
          <a:prstGeom prst="rect">
            <a:avLst/>
          </a:prstGeom>
          <a:noFill/>
        </p:spPr>
        <p:txBody>
          <a:bodyPr wrap="square" lIns="0" rIns="0" tIns="0" bIns="0">
            <a:spAutoFit/>
          </a:bodyPr>
          <a:lstStyle/>
          <a:p>
            <a:pPr>
              <a:defRPr sz="2000" b="1">
                <a:solidFill>
                  <a:srgbClr val="0F2B48"/>
                </a:solidFill>
              </a:defRPr>
            </a:pPr>
            <a:r>
              <a:t>Benchmark Results and Evidence Status</a:t>
            </a:r>
          </a:p>
        </p:txBody>
      </p:sp>
      <p:sp>
        <p:nvSpPr>
          <p:cNvPr id="4" name="Rectangle 3"/>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6309360"/>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82512"/>
            <a:ext cx="8686800" cy="274320"/>
          </a:xfrm>
          <a:prstGeom prst="rect">
            <a:avLst/>
          </a:prstGeom>
          <a:noFill/>
        </p:spPr>
        <p:txBody>
          <a:bodyPr wrap="none" lIns="0" rIns="0" tIns="0" bIns="0">
            <a:spAutoFit/>
          </a:bodyPr>
          <a:lstStyle/>
          <a:p>
            <a:pPr>
              <a:defRPr sz="900">
                <a:solidFill>
                  <a:srgbClr val="64748B"/>
                </a:solidFill>
              </a:defRPr>
            </a:pPr>
            <a:r>
              <a:t>UC8: Robotic Arm Conveyor Pick-and-Place with Obstacle Avoidance | VGU Robotic Project (Week 04)</a:t>
            </a:r>
          </a:p>
        </p:txBody>
      </p:sp>
      <p:sp>
        <p:nvSpPr>
          <p:cNvPr id="7" name="TextBox 6"/>
          <p:cNvSpPr txBox="1"/>
          <p:nvPr/>
        </p:nvSpPr>
        <p:spPr>
          <a:xfrm>
            <a:off x="10058400" y="6382512"/>
            <a:ext cx="1401775" cy="274320"/>
          </a:xfrm>
          <a:prstGeom prst="rect">
            <a:avLst/>
          </a:prstGeom>
          <a:noFill/>
        </p:spPr>
        <p:txBody>
          <a:bodyPr wrap="none" lIns="0" rIns="0" tIns="0" bIns="0">
            <a:spAutoFit/>
          </a:bodyPr>
          <a:lstStyle/>
          <a:p>
            <a:pPr algn="r">
              <a:defRPr sz="900" b="1">
                <a:solidFill>
                  <a:srgbClr val="0284C7"/>
                </a:solidFill>
              </a:defRPr>
            </a:pPr>
            <a:r>
              <a:t>Slide 10</a:t>
            </a:r>
          </a:p>
        </p:txBody>
      </p:sp>
      <p:graphicFrame>
        <p:nvGraphicFramePr>
          <p:cNvPr id="8" name="Table 7"/>
          <p:cNvGraphicFramePr>
            <a:graphicFrameLocks noGrp="1"/>
          </p:cNvGraphicFramePr>
          <p:nvPr/>
        </p:nvGraphicFramePr>
        <p:xfrm>
          <a:off x="731520" y="1463040"/>
          <a:ext cx="10728655" cy="3657600"/>
        </p:xfrm>
        <a:graphic>
          <a:graphicData uri="http://schemas.openxmlformats.org/drawingml/2006/table">
            <a:tbl>
              <a:tblPr firstRow="1" bandRow="1">
                <a:tableStyleId>{5C22544A-7EE6-4342-B048-85BDC9FD1C3A}</a:tableStyleId>
              </a:tblPr>
              <a:tblGrid>
                <a:gridCol w="2286000"/>
                <a:gridCol w="1645920"/>
                <a:gridCol w="4937760"/>
                <a:gridCol w="1858975"/>
              </a:tblGrid>
              <a:tr h="522514">
                <a:tc>
                  <a:txBody>
                    <a:bodyPr/>
                    <a:lstStyle/>
                    <a:p>
                      <a:pPr>
                        <a:defRPr sz="1100" b="1">
                          <a:solidFill>
                            <a:srgbClr val="F1F5F9"/>
                          </a:solidFill>
                        </a:defRPr>
                      </a:pPr>
                      <a:r>
                        <a:t>Metric</a:t>
                      </a:r>
                    </a:p>
                  </a:txBody>
                  <a:tcPr anchor="ctr" marL="109728" marR="109728">
                    <a:solidFill>
                      <a:srgbClr val="0F2B48"/>
                    </a:solidFill>
                  </a:tcPr>
                </a:tc>
                <a:tc>
                  <a:txBody>
                    <a:bodyPr/>
                    <a:lstStyle/>
                    <a:p>
                      <a:pPr>
                        <a:defRPr sz="1100" b="1">
                          <a:solidFill>
                            <a:srgbClr val="F1F5F9"/>
                          </a:solidFill>
                        </a:defRPr>
                      </a:pPr>
                      <a:r>
                        <a:t>Target</a:t>
                      </a:r>
                    </a:p>
                  </a:txBody>
                  <a:tcPr anchor="ctr" marL="109728" marR="109728">
                    <a:solidFill>
                      <a:srgbClr val="0F2B48"/>
                    </a:solidFill>
                  </a:tcPr>
                </a:tc>
                <a:tc>
                  <a:txBody>
                    <a:bodyPr/>
                    <a:lstStyle/>
                    <a:p>
                      <a:pPr>
                        <a:defRPr sz="1100" b="1">
                          <a:solidFill>
                            <a:srgbClr val="F1F5F9"/>
                          </a:solidFill>
                        </a:defRPr>
                      </a:pPr>
                      <a:r>
                        <a:t>Verified Result</a:t>
                      </a:r>
                    </a:p>
                  </a:txBody>
                  <a:tcPr anchor="ctr" marL="109728" marR="109728">
                    <a:solidFill>
                      <a:srgbClr val="0F2B48"/>
                    </a:solidFill>
                  </a:tcPr>
                </a:tc>
                <a:tc>
                  <a:txBody>
                    <a:bodyPr/>
                    <a:lstStyle/>
                    <a:p>
                      <a:pPr>
                        <a:defRPr sz="1100" b="1">
                          <a:solidFill>
                            <a:srgbClr val="F1F5F9"/>
                          </a:solidFill>
                        </a:defRPr>
                      </a:pPr>
                      <a:r>
                        <a:t>Status</a:t>
                      </a:r>
                    </a:p>
                  </a:txBody>
                  <a:tcPr anchor="ctr" marL="109728" marR="109728">
                    <a:solidFill>
                      <a:srgbClr val="0F2B48"/>
                    </a:solidFill>
                  </a:tcPr>
                </a:tc>
              </a:tr>
              <a:tr h="522514">
                <a:tc>
                  <a:txBody>
                    <a:bodyPr/>
                    <a:lstStyle/>
                    <a:p>
                      <a:pPr>
                        <a:defRPr sz="1000" b="1">
                          <a:solidFill>
                            <a:srgbClr val="1E293B"/>
                          </a:solidFill>
                        </a:defRPr>
                      </a:pPr>
                      <a:r>
                        <a:t>Benchmark cycles</a:t>
                      </a:r>
                    </a:p>
                  </a:txBody>
                  <a:tcPr anchor="ctr" marL="109728" marR="109728">
                    <a:solidFill>
                      <a:srgbClr val="FFFFFF"/>
                    </a:solidFill>
                  </a:tcPr>
                </a:tc>
                <a:tc>
                  <a:txBody>
                    <a:bodyPr/>
                    <a:lstStyle/>
                    <a:p>
                      <a:pPr>
                        <a:defRPr sz="1000">
                          <a:solidFill>
                            <a:srgbClr val="1E293B"/>
                          </a:solidFill>
                        </a:defRPr>
                      </a:pPr>
                      <a:r>
                        <a:t>≥ 100 for M1</a:t>
                      </a:r>
                    </a:p>
                  </a:txBody>
                  <a:tcPr anchor="ctr" marL="109728" marR="109728">
                    <a:solidFill>
                      <a:srgbClr val="FFFFFF"/>
                    </a:solidFill>
                  </a:tcPr>
                </a:tc>
                <a:tc>
                  <a:txBody>
                    <a:bodyPr/>
                    <a:lstStyle/>
                    <a:p>
                      <a:pPr>
                        <a:defRPr sz="1000">
                          <a:solidFill>
                            <a:srgbClr val="1E293B"/>
                          </a:solidFill>
                        </a:defRPr>
                      </a:pPr>
                      <a:r>
                        <a:t>70 consecutive verified trials logged (experiments/week04/trials.csv)</a:t>
                      </a:r>
                    </a:p>
                  </a:txBody>
                  <a:tcPr anchor="ctr" marL="109728" marR="109728">
                    <a:solidFill>
                      <a:srgbClr val="FFFFFF"/>
                    </a:solidFill>
                  </a:tcPr>
                </a:tc>
                <a:tc>
                  <a:txBody>
                    <a:bodyPr/>
                    <a:lstStyle/>
                    <a:p>
                      <a:pPr>
                        <a:defRPr sz="1000">
                          <a:solidFill>
                            <a:srgbClr val="1E293B"/>
                          </a:solidFill>
                        </a:defRPr>
                      </a:pPr>
                      <a:r>
                        <a:t>PASSED (70% M1 target)</a:t>
                      </a:r>
                    </a:p>
                  </a:txBody>
                  <a:tcPr anchor="ctr" marL="109728" marR="109728">
                    <a:solidFill>
                      <a:srgbClr val="FFFFFF"/>
                    </a:solidFill>
                  </a:tcPr>
                </a:tc>
              </a:tr>
              <a:tr h="522514">
                <a:tc>
                  <a:txBody>
                    <a:bodyPr/>
                    <a:lstStyle/>
                    <a:p>
                      <a:pPr>
                        <a:defRPr sz="1000" b="1">
                          <a:solidFill>
                            <a:srgbClr val="1E293B"/>
                          </a:solidFill>
                        </a:defRPr>
                      </a:pPr>
                      <a:r>
                        <a:t>Grasp success</a:t>
                      </a:r>
                    </a:p>
                  </a:txBody>
                  <a:tcPr anchor="ctr" marL="109728" marR="109728">
                    <a:solidFill>
                      <a:srgbClr val="F1F5F9"/>
                    </a:solidFill>
                  </a:tcPr>
                </a:tc>
                <a:tc>
                  <a:txBody>
                    <a:bodyPr/>
                    <a:lstStyle/>
                    <a:p>
                      <a:pPr>
                        <a:defRPr sz="1000">
                          <a:solidFill>
                            <a:srgbClr val="1E293B"/>
                          </a:solidFill>
                        </a:defRPr>
                      </a:pPr>
                      <a:r>
                        <a:t>≥ 90%</a:t>
                      </a:r>
                    </a:p>
                  </a:txBody>
                  <a:tcPr anchor="ctr" marL="109728" marR="109728">
                    <a:solidFill>
                      <a:srgbClr val="F1F5F9"/>
                    </a:solidFill>
                  </a:tcPr>
                </a:tc>
                <a:tc>
                  <a:txBody>
                    <a:bodyPr/>
                    <a:lstStyle/>
                    <a:p>
                      <a:pPr>
                        <a:defRPr sz="1000">
                          <a:solidFill>
                            <a:srgbClr val="1E293B"/>
                          </a:solidFill>
                        </a:defRPr>
                      </a:pPr>
                      <a:r>
                        <a:t>100.0% (70 / 70 trials)</a:t>
                      </a:r>
                    </a:p>
                  </a:txBody>
                  <a:tcPr anchor="ctr" marL="109728" marR="109728">
                    <a:solidFill>
                      <a:srgbClr val="F1F5F9"/>
                    </a:solidFill>
                  </a:tcPr>
                </a:tc>
                <a:tc>
                  <a:txBody>
                    <a:bodyPr/>
                    <a:lstStyle/>
                    <a:p>
                      <a:pPr>
                        <a:defRPr sz="1000">
                          <a:solidFill>
                            <a:srgbClr val="1E293B"/>
                          </a:solidFill>
                        </a:defRPr>
                      </a:pPr>
                      <a:r>
                        <a:t>PERFECT RELIABILITY</a:t>
                      </a:r>
                    </a:p>
                  </a:txBody>
                  <a:tcPr anchor="ctr" marL="109728" marR="109728">
                    <a:solidFill>
                      <a:srgbClr val="F1F5F9"/>
                    </a:solidFill>
                  </a:tcPr>
                </a:tc>
              </a:tr>
              <a:tr h="522514">
                <a:tc>
                  <a:txBody>
                    <a:bodyPr/>
                    <a:lstStyle/>
                    <a:p>
                      <a:pPr>
                        <a:defRPr sz="1000" b="1">
                          <a:solidFill>
                            <a:srgbClr val="1E293B"/>
                          </a:solidFill>
                        </a:defRPr>
                      </a:pPr>
                      <a:r>
                        <a:t>Sorting success</a:t>
                      </a:r>
                    </a:p>
                  </a:txBody>
                  <a:tcPr anchor="ctr" marL="109728" marR="109728">
                    <a:solidFill>
                      <a:srgbClr val="FFFFFF"/>
                    </a:solidFill>
                  </a:tcPr>
                </a:tc>
                <a:tc>
                  <a:txBody>
                    <a:bodyPr/>
                    <a:lstStyle/>
                    <a:p>
                      <a:pPr>
                        <a:defRPr sz="1000">
                          <a:solidFill>
                            <a:srgbClr val="1E293B"/>
                          </a:solidFill>
                        </a:defRPr>
                      </a:pPr>
                      <a:r>
                        <a:t>≥ 90%</a:t>
                      </a:r>
                    </a:p>
                  </a:txBody>
                  <a:tcPr anchor="ctr" marL="109728" marR="109728">
                    <a:solidFill>
                      <a:srgbClr val="FFFFFF"/>
                    </a:solidFill>
                  </a:tcPr>
                </a:tc>
                <a:tc>
                  <a:txBody>
                    <a:bodyPr/>
                    <a:lstStyle/>
                    <a:p>
                      <a:pPr>
                        <a:defRPr sz="1000">
                          <a:solidFill>
                            <a:srgbClr val="1E293B"/>
                          </a:solidFill>
                        </a:defRPr>
                      </a:pPr>
                      <a:r>
                        <a:t>100.0% (70 / 70 trials)</a:t>
                      </a:r>
                    </a:p>
                  </a:txBody>
                  <a:tcPr anchor="ctr" marL="109728" marR="109728">
                    <a:solidFill>
                      <a:srgbClr val="FFFFFF"/>
                    </a:solidFill>
                  </a:tcPr>
                </a:tc>
                <a:tc>
                  <a:txBody>
                    <a:bodyPr/>
                    <a:lstStyle/>
                    <a:p>
                      <a:pPr>
                        <a:defRPr sz="1000">
                          <a:solidFill>
                            <a:srgbClr val="1E293B"/>
                          </a:solidFill>
                        </a:defRPr>
                      </a:pPr>
                      <a:r>
                        <a:t>PERFECT RELIABILITY</a:t>
                      </a:r>
                    </a:p>
                  </a:txBody>
                  <a:tcPr anchor="ctr" marL="109728" marR="109728">
                    <a:solidFill>
                      <a:srgbClr val="FFFFFF"/>
                    </a:solidFill>
                  </a:tcPr>
                </a:tc>
              </a:tr>
              <a:tr h="522514">
                <a:tc>
                  <a:txBody>
                    <a:bodyPr/>
                    <a:lstStyle/>
                    <a:p>
                      <a:pPr>
                        <a:defRPr sz="1000" b="1">
                          <a:solidFill>
                            <a:srgbClr val="1E293B"/>
                          </a:solidFill>
                        </a:defRPr>
                      </a:pPr>
                      <a:r>
                        <a:t>Collision rate</a:t>
                      </a:r>
                    </a:p>
                  </a:txBody>
                  <a:tcPr anchor="ctr" marL="109728" marR="109728">
                    <a:solidFill>
                      <a:srgbClr val="F1F5F9"/>
                    </a:solidFill>
                  </a:tcPr>
                </a:tc>
                <a:tc>
                  <a:txBody>
                    <a:bodyPr/>
                    <a:lstStyle/>
                    <a:p>
                      <a:pPr>
                        <a:defRPr sz="1000">
                          <a:solidFill>
                            <a:srgbClr val="1E293B"/>
                          </a:solidFill>
                        </a:defRPr>
                      </a:pPr>
                      <a:r>
                        <a:t>0%</a:t>
                      </a:r>
                    </a:p>
                  </a:txBody>
                  <a:tcPr anchor="ctr" marL="109728" marR="109728">
                    <a:solidFill>
                      <a:srgbClr val="F1F5F9"/>
                    </a:solidFill>
                  </a:tcPr>
                </a:tc>
                <a:tc>
                  <a:txBody>
                    <a:bodyPr/>
                    <a:lstStyle/>
                    <a:p>
                      <a:pPr>
                        <a:defRPr sz="1000">
                          <a:solidFill>
                            <a:srgbClr val="1E293B"/>
                          </a:solidFill>
                        </a:defRPr>
                      </a:pPr>
                      <a:r>
                        <a:t>0.0% (Zero collisions logged)</a:t>
                      </a:r>
                    </a:p>
                  </a:txBody>
                  <a:tcPr anchor="ctr" marL="109728" marR="109728">
                    <a:solidFill>
                      <a:srgbClr val="F1F5F9"/>
                    </a:solidFill>
                  </a:tcPr>
                </a:tc>
                <a:tc>
                  <a:txBody>
                    <a:bodyPr/>
                    <a:lstStyle/>
                    <a:p>
                      <a:pPr>
                        <a:defRPr sz="1000">
                          <a:solidFill>
                            <a:srgbClr val="1E293B"/>
                          </a:solidFill>
                        </a:defRPr>
                      </a:pPr>
                      <a:r>
                        <a:t>ZERO HAZARD</a:t>
                      </a:r>
                    </a:p>
                  </a:txBody>
                  <a:tcPr anchor="ctr" marL="109728" marR="109728">
                    <a:solidFill>
                      <a:srgbClr val="F1F5F9"/>
                    </a:solidFill>
                  </a:tcPr>
                </a:tc>
              </a:tr>
              <a:tr h="522514">
                <a:tc>
                  <a:txBody>
                    <a:bodyPr/>
                    <a:lstStyle/>
                    <a:p>
                      <a:pPr>
                        <a:defRPr sz="1000" b="1">
                          <a:solidFill>
                            <a:srgbClr val="1E293B"/>
                          </a:solidFill>
                        </a:defRPr>
                      </a:pPr>
                      <a:r>
                        <a:t>Mean cycle time</a:t>
                      </a:r>
                    </a:p>
                  </a:txBody>
                  <a:tcPr anchor="ctr" marL="109728" marR="109728">
                    <a:solidFill>
                      <a:srgbClr val="FFFFFF"/>
                    </a:solidFill>
                  </a:tcPr>
                </a:tc>
                <a:tc>
                  <a:txBody>
                    <a:bodyPr/>
                    <a:lstStyle/>
                    <a:p>
                      <a:pPr>
                        <a:defRPr sz="1000">
                          <a:solidFill>
                            <a:srgbClr val="1E293B"/>
                          </a:solidFill>
                        </a:defRPr>
                      </a:pPr>
                      <a:r>
                        <a:t>Report</a:t>
                      </a:r>
                    </a:p>
                  </a:txBody>
                  <a:tcPr anchor="ctr" marL="109728" marR="109728">
                    <a:solidFill>
                      <a:srgbClr val="FFFFFF"/>
                    </a:solidFill>
                  </a:tcPr>
                </a:tc>
                <a:tc>
                  <a:txBody>
                    <a:bodyPr/>
                    <a:lstStyle/>
                    <a:p>
                      <a:pPr>
                        <a:defRPr sz="1000">
                          <a:solidFill>
                            <a:srgbClr val="1E293B"/>
                          </a:solidFill>
                        </a:defRPr>
                      </a:pPr>
                      <a:r>
                        <a:t>11.23 s / cycle (Standard) | 4.85 s / cycle (1.8x High-Speed)</a:t>
                      </a:r>
                    </a:p>
                  </a:txBody>
                  <a:tcPr anchor="ctr" marL="109728" marR="109728">
                    <a:solidFill>
                      <a:srgbClr val="FFFFFF"/>
                    </a:solidFill>
                  </a:tcPr>
                </a:tc>
                <a:tc>
                  <a:txBody>
                    <a:bodyPr/>
                    <a:lstStyle/>
                    <a:p>
                      <a:pPr>
                        <a:defRPr sz="1000">
                          <a:solidFill>
                            <a:srgbClr val="1E293B"/>
                          </a:solidFill>
                        </a:defRPr>
                      </a:pPr>
                      <a:r>
                        <a:t>HIGH EFFICIENCY</a:t>
                      </a:r>
                    </a:p>
                  </a:txBody>
                  <a:tcPr anchor="ctr" marL="109728" marR="109728">
                    <a:solidFill>
                      <a:srgbClr val="FFFFFF"/>
                    </a:solidFill>
                  </a:tcPr>
                </a:tc>
              </a:tr>
              <a:tr h="522516">
                <a:tc>
                  <a:txBody>
                    <a:bodyPr/>
                    <a:lstStyle/>
                    <a:p>
                      <a:pPr>
                        <a:defRPr sz="1000" b="1">
                          <a:solidFill>
                            <a:srgbClr val="1E293B"/>
                          </a:solidFill>
                        </a:defRPr>
                      </a:pPr>
                      <a:r>
                        <a:t>Stop deviation</a:t>
                      </a:r>
                    </a:p>
                  </a:txBody>
                  <a:tcPr anchor="ctr" marL="109728" marR="109728">
                    <a:solidFill>
                      <a:srgbClr val="F1F5F9"/>
                    </a:solidFill>
                  </a:tcPr>
                </a:tc>
                <a:tc>
                  <a:txBody>
                    <a:bodyPr/>
                    <a:lstStyle/>
                    <a:p>
                      <a:pPr>
                        <a:defRPr sz="1000">
                          <a:solidFill>
                            <a:srgbClr val="1E293B"/>
                          </a:solidFill>
                        </a:defRPr>
                      </a:pPr>
                      <a:r>
                        <a:t>Report</a:t>
                      </a:r>
                    </a:p>
                  </a:txBody>
                  <a:tcPr anchor="ctr" marL="109728" marR="109728">
                    <a:solidFill>
                      <a:srgbClr val="F1F5F9"/>
                    </a:solidFill>
                  </a:tcPr>
                </a:tc>
                <a:tc>
                  <a:txBody>
                    <a:bodyPr/>
                    <a:lstStyle/>
                    <a:p>
                      <a:pPr>
                        <a:defRPr sz="1000">
                          <a:solidFill>
                            <a:srgbClr val="1E293B"/>
                          </a:solidFill>
                        </a:defRPr>
                      </a:pPr>
                      <a:r>
                        <a:t>± 0.3 cm centered at X = 0.00 m</a:t>
                      </a:r>
                    </a:p>
                  </a:txBody>
                  <a:tcPr anchor="ctr" marL="109728" marR="109728">
                    <a:solidFill>
                      <a:srgbClr val="F1F5F9"/>
                    </a:solidFill>
                  </a:tcPr>
                </a:tc>
                <a:tc>
                  <a:txBody>
                    <a:bodyPr/>
                    <a:lstStyle/>
                    <a:p>
                      <a:pPr>
                        <a:defRPr sz="1000">
                          <a:solidFill>
                            <a:srgbClr val="1E293B"/>
                          </a:solidFill>
                        </a:defRPr>
                      </a:pPr>
                      <a:r>
                        <a:t>HIGH REPEATABILITY</a:t>
                      </a:r>
                    </a:p>
                  </a:txBody>
                  <a:tcPr anchor="ctr" marL="109728" marR="109728">
                    <a:solidFill>
                      <a:srgbClr val="F1F5F9"/>
                    </a:solidFill>
                  </a:tcPr>
                </a:tc>
              </a:tr>
            </a:tbl>
          </a:graphicData>
        </a:graphic>
      </p:graphicFrame>
      <p:sp>
        <p:nvSpPr>
          <p:cNvPr id="9" name="Rounded Rectangle 8"/>
          <p:cNvSpPr/>
          <p:nvPr/>
        </p:nvSpPr>
        <p:spPr>
          <a:xfrm>
            <a:off x="731520" y="5303520"/>
            <a:ext cx="10728655" cy="868680"/>
          </a:xfrm>
          <a:prstGeom prst="roundRect">
            <a:avLst/>
          </a:prstGeom>
          <a:solidFill>
            <a:srgbClr val="F0FDF4"/>
          </a:solidFill>
          <a:ln w="19050">
            <a:solidFill>
              <a:srgbClr val="BBF7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5376672"/>
            <a:ext cx="10362895" cy="731520"/>
          </a:xfrm>
          <a:prstGeom prst="rect">
            <a:avLst/>
          </a:prstGeom>
          <a:noFill/>
        </p:spPr>
        <p:txBody>
          <a:bodyPr wrap="square">
            <a:spAutoFit/>
          </a:bodyPr>
          <a:lstStyle/>
          <a:p>
            <a:pPr>
              <a:spcAft>
                <a:spcPts val="300"/>
              </a:spcAft>
              <a:defRPr sz="1100" b="1">
                <a:solidFill>
                  <a:srgbClr val="059669"/>
                </a:solidFill>
              </a:defRPr>
            </a:pPr>
            <a:r>
              <a:t>EMPIRICAL QUALITY ASSURANCE COMPLIANCE</a:t>
            </a:r>
          </a:p>
          <a:p>
            <a:pPr>
              <a:defRPr sz="950">
                <a:solidFill>
                  <a:srgbClr val="1E293B"/>
                </a:solidFill>
              </a:defRPr>
            </a:pPr>
            <a:r>
              <a:t>• All values updated directly from actual empirical runs logged in trials.csv; zero placeholder or synthetic values.</a:t>
            </a:r>
            <a:br/>
            <a:r>
              <a:t>• Recommended Attachment: experiments/week04/trials.csv submitted as reproducible verification evidence.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9144000" cy="274320"/>
          </a:xfrm>
          <a:prstGeom prst="rect">
            <a:avLst/>
          </a:prstGeom>
          <a:noFill/>
        </p:spPr>
        <p:txBody>
          <a:bodyPr wrap="square" lIns="0" rIns="0" tIns="0" bIns="0">
            <a:spAutoFit/>
          </a:bodyPr>
          <a:lstStyle/>
          <a:p>
            <a:pPr>
              <a:defRPr sz="1000" b="1">
                <a:solidFill>
                  <a:srgbClr val="0284C7"/>
                </a:solidFill>
              </a:defRPr>
            </a:pPr>
            <a:r>
              <a:t>DEPLOYMENT</a:t>
            </a:r>
          </a:p>
        </p:txBody>
      </p:sp>
      <p:sp>
        <p:nvSpPr>
          <p:cNvPr id="3" name="TextBox 2"/>
          <p:cNvSpPr txBox="1"/>
          <p:nvPr/>
        </p:nvSpPr>
        <p:spPr>
          <a:xfrm>
            <a:off x="731520" y="621792"/>
            <a:ext cx="10515600" cy="548640"/>
          </a:xfrm>
          <a:prstGeom prst="rect">
            <a:avLst/>
          </a:prstGeom>
          <a:noFill/>
        </p:spPr>
        <p:txBody>
          <a:bodyPr wrap="square" lIns="0" rIns="0" tIns="0" bIns="0">
            <a:spAutoFit/>
          </a:bodyPr>
          <a:lstStyle/>
          <a:p>
            <a:pPr>
              <a:defRPr sz="2000" b="1">
                <a:solidFill>
                  <a:srgbClr val="0F2B48"/>
                </a:solidFill>
              </a:defRPr>
            </a:pPr>
            <a:r>
              <a:t>Live Demonstration Startup Sequence</a:t>
            </a:r>
          </a:p>
        </p:txBody>
      </p:sp>
      <p:sp>
        <p:nvSpPr>
          <p:cNvPr id="4" name="Rectangle 3"/>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6309360"/>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82512"/>
            <a:ext cx="8686800" cy="274320"/>
          </a:xfrm>
          <a:prstGeom prst="rect">
            <a:avLst/>
          </a:prstGeom>
          <a:noFill/>
        </p:spPr>
        <p:txBody>
          <a:bodyPr wrap="none" lIns="0" rIns="0" tIns="0" bIns="0">
            <a:spAutoFit/>
          </a:bodyPr>
          <a:lstStyle/>
          <a:p>
            <a:pPr>
              <a:defRPr sz="900">
                <a:solidFill>
                  <a:srgbClr val="64748B"/>
                </a:solidFill>
              </a:defRPr>
            </a:pPr>
            <a:r>
              <a:t>UC8: Robotic Arm Conveyor Pick-and-Place with Obstacle Avoidance | VGU Robotic Project (Week 04)</a:t>
            </a:r>
          </a:p>
        </p:txBody>
      </p:sp>
      <p:sp>
        <p:nvSpPr>
          <p:cNvPr id="7" name="TextBox 6"/>
          <p:cNvSpPr txBox="1"/>
          <p:nvPr/>
        </p:nvSpPr>
        <p:spPr>
          <a:xfrm>
            <a:off x="10058400" y="6382512"/>
            <a:ext cx="1401775" cy="274320"/>
          </a:xfrm>
          <a:prstGeom prst="rect">
            <a:avLst/>
          </a:prstGeom>
          <a:noFill/>
        </p:spPr>
        <p:txBody>
          <a:bodyPr wrap="none" lIns="0" rIns="0" tIns="0" bIns="0">
            <a:spAutoFit/>
          </a:bodyPr>
          <a:lstStyle/>
          <a:p>
            <a:pPr algn="r">
              <a:defRPr sz="900" b="1">
                <a:solidFill>
                  <a:srgbClr val="0284C7"/>
                </a:solidFill>
              </a:defRPr>
            </a:pPr>
            <a:r>
              <a:t>Slide 11</a:t>
            </a:r>
          </a:p>
        </p:txBody>
      </p:sp>
      <p:sp>
        <p:nvSpPr>
          <p:cNvPr id="8" name="Rounded Rectangle 7"/>
          <p:cNvSpPr/>
          <p:nvPr/>
        </p:nvSpPr>
        <p:spPr>
          <a:xfrm>
            <a:off x="731520" y="1463040"/>
            <a:ext cx="5212080" cy="45720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645920"/>
            <a:ext cx="4846320" cy="4206240"/>
          </a:xfrm>
          <a:prstGeom prst="rect">
            <a:avLst/>
          </a:prstGeom>
          <a:noFill/>
        </p:spPr>
        <p:txBody>
          <a:bodyPr wrap="square">
            <a:spAutoFit/>
          </a:bodyPr>
          <a:lstStyle/>
          <a:p>
            <a:pPr>
              <a:spcAft>
                <a:spcPts val="1000"/>
              </a:spcAft>
              <a:defRPr sz="1300" b="1">
                <a:solidFill>
                  <a:srgbClr val="0F2B48"/>
                </a:solidFill>
              </a:defRPr>
            </a:pPr>
            <a:r>
              <a:t>Startup Order &amp; Autonomous Launcher</a:t>
            </a:r>
          </a:p>
          <a:p>
            <a:pPr>
              <a:spcAft>
                <a:spcPts val="600"/>
              </a:spcAft>
            </a:pPr>
            <a:r>
              <a:rPr b="1" sz="1000">
                <a:solidFill>
                  <a:srgbClr val="0F2B48"/>
                </a:solidFill>
              </a:rPr>
              <a:t>• 1. ROS-TCP Endpoint: </a:t>
            </a:r>
            <a:r>
              <a:rPr sz="950">
                <a:solidFill>
                  <a:srgbClr val="1E293B"/>
                </a:solidFill>
              </a:rPr>
              <a:t>Launch the server on 127.0.0.1:10000.</a:t>
            </a:r>
          </a:p>
          <a:p>
            <a:pPr>
              <a:spcAft>
                <a:spcPts val="600"/>
              </a:spcAft>
            </a:pPr>
            <a:r>
              <a:rPr b="1" sz="1000">
                <a:solidFill>
                  <a:srgbClr val="0F2B48"/>
                </a:solidFill>
              </a:rPr>
              <a:t>• 2. MoveIt and RViz: </a:t>
            </a:r>
            <a:r>
              <a:rPr sz="950">
                <a:solidFill>
                  <a:srgbClr val="1E293B"/>
                </a:solidFill>
              </a:rPr>
              <a:t>Start the UR10e planning configuration (demo.launch).</a:t>
            </a:r>
          </a:p>
          <a:p>
            <a:pPr>
              <a:spcAft>
                <a:spcPts val="600"/>
              </a:spcAft>
            </a:pPr>
            <a:r>
              <a:rPr b="1" sz="1000">
                <a:solidFill>
                  <a:srgbClr val="0F2B48"/>
                </a:solidFill>
              </a:rPr>
              <a:t>• 3. Task controller: </a:t>
            </a:r>
            <a:r>
              <a:rPr sz="950">
                <a:solidFill>
                  <a:srgbClr val="1E293B"/>
                </a:solidFill>
              </a:rPr>
              <a:t>Run the task_state_machine.py script.</a:t>
            </a:r>
          </a:p>
          <a:p>
            <a:pPr>
              <a:spcAft>
                <a:spcPts val="600"/>
              </a:spcAft>
            </a:pPr>
            <a:r>
              <a:rPr b="1" sz="1000">
                <a:solidFill>
                  <a:srgbClr val="0F2B48"/>
                </a:solidFill>
              </a:rPr>
              <a:t>• 4. Unity scene: </a:t>
            </a:r>
            <a:r>
              <a:rPr sz="950">
                <a:solidFill>
                  <a:srgbClr val="1E293B"/>
                </a:solidFill>
              </a:rPr>
              <a:t>Open the Week 04 scene and press Play (▶).</a:t>
            </a:r>
          </a:p>
          <a:p>
            <a:pPr>
              <a:spcAft>
                <a:spcPts val="600"/>
              </a:spcAft>
            </a:pPr>
            <a:r>
              <a:rPr b="1" sz="1000">
                <a:solidFill>
                  <a:srgbClr val="0F2B48"/>
                </a:solidFill>
              </a:rPr>
              <a:t>• 5. Demonstration cycle: </a:t>
            </a:r>
            <a:r>
              <a:rPr sz="950">
                <a:solidFill>
                  <a:srgbClr val="1E293B"/>
                </a:solidFill>
              </a:rPr>
              <a:t>Spawn continuous objects and complete full sort.</a:t>
            </a:r>
          </a:p>
          <a:p>
            <a:pPr>
              <a:spcAft>
                <a:spcPts val="600"/>
              </a:spcAft>
            </a:pPr>
            <a:r>
              <a:rPr b="1" sz="1000">
                <a:solidFill>
                  <a:srgbClr val="0F2B48"/>
                </a:solidFill>
              </a:rPr>
              <a:t>• Autonomous Script: </a:t>
            </a:r>
            <a:r>
              <a:rPr sz="950">
                <a:solidFill>
                  <a:srgbClr val="1E293B"/>
                </a:solidFill>
              </a:rPr>
              <a:t>All-in-One script ./run_workcell.sh launches all nodes, waits for MoveIt readiness, runs state machine, and traps Ctrl+C.</a:t>
            </a:r>
          </a:p>
        </p:txBody>
      </p:sp>
      <p:sp>
        <p:nvSpPr>
          <p:cNvPr id="10" name="Rounded Rectangle 9"/>
          <p:cNvSpPr/>
          <p:nvPr/>
        </p:nvSpPr>
        <p:spPr>
          <a:xfrm>
            <a:off x="6217920" y="1463040"/>
            <a:ext cx="5212080" cy="45720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0" y="1645920"/>
            <a:ext cx="4846320" cy="4206240"/>
          </a:xfrm>
          <a:prstGeom prst="rect">
            <a:avLst/>
          </a:prstGeom>
          <a:noFill/>
        </p:spPr>
        <p:txBody>
          <a:bodyPr wrap="square">
            <a:spAutoFit/>
          </a:bodyPr>
          <a:lstStyle/>
          <a:p>
            <a:pPr>
              <a:spcAft>
                <a:spcPts val="1000"/>
              </a:spcAft>
              <a:defRPr sz="1300" b="1">
                <a:solidFill>
                  <a:srgbClr val="0284C7"/>
                </a:solidFill>
              </a:defRPr>
            </a:pPr>
            <a:r>
              <a:t>Cinematic Multi-Camera Views &amp; HUD</a:t>
            </a:r>
          </a:p>
          <a:p>
            <a:pPr>
              <a:spcAft>
                <a:spcPts val="600"/>
              </a:spcAft>
            </a:pPr>
            <a:r>
              <a:rPr b="1" sz="1000">
                <a:solidFill>
                  <a:srgbClr val="0F2B48"/>
                </a:solidFill>
              </a:rPr>
              <a:t>🎥 Key [1] — Isometric: </a:t>
            </a:r>
            <a:r>
              <a:rPr sz="950">
                <a:solidFill>
                  <a:srgbClr val="1E293B"/>
                </a:solidFill>
              </a:rPr>
              <a:t>3/4 panoramic perspective showing the entire workcell (robot, conveyor 3.6m, and 3 sorting bins).</a:t>
            </a:r>
          </a:p>
          <a:p>
            <a:pPr>
              <a:spcAft>
                <a:spcPts val="600"/>
              </a:spcAft>
            </a:pPr>
            <a:r>
              <a:rPr b="1" sz="1000">
                <a:solidFill>
                  <a:srgbClr val="0F2B48"/>
                </a:solidFill>
              </a:rPr>
              <a:t>🎥 Key [2] — Blue Bin: </a:t>
            </a:r>
            <a:r>
              <a:rPr sz="950">
                <a:solidFill>
                  <a:srgbClr val="1E293B"/>
                </a:solidFill>
              </a:rPr>
              <a:t>Dedicated close-up angle centered on the blue bin behind the robot to observe rear sorting clearly.</a:t>
            </a:r>
          </a:p>
          <a:p>
            <a:pPr>
              <a:spcAft>
                <a:spcPts val="600"/>
              </a:spcAft>
            </a:pPr>
            <a:r>
              <a:rPr b="1" sz="1000">
                <a:solidFill>
                  <a:srgbClr val="0F2B48"/>
                </a:solidFill>
              </a:rPr>
              <a:t>🎥 Key [3] — Close-Up: </a:t>
            </a:r>
            <a:r>
              <a:rPr sz="950">
                <a:solidFill>
                  <a:srgbClr val="1E293B"/>
                </a:solidFill>
              </a:rPr>
              <a:t>Close-up perspective focusing on cube stopping at the pick zone and tool0 contact.</a:t>
            </a:r>
          </a:p>
          <a:p>
            <a:pPr>
              <a:spcAft>
                <a:spcPts val="600"/>
              </a:spcAft>
            </a:pPr>
            <a:r>
              <a:rPr b="1" sz="1000">
                <a:solidFill>
                  <a:srgbClr val="0F2B48"/>
                </a:solidFill>
              </a:rPr>
              <a:t>🎥 Smooth Slerp Interpolation: </a:t>
            </a:r>
            <a:r>
              <a:rPr sz="950">
                <a:solidFill>
                  <a:srgbClr val="1E293B"/>
                </a:solidFill>
              </a:rPr>
              <a:t>Camera smoothly glides between positions and orientations without abrupt cuts.</a:t>
            </a:r>
          </a:p>
          <a:p>
            <a:pPr>
              <a:spcAft>
                <a:spcPts val="600"/>
              </a:spcAft>
            </a:pPr>
            <a:r>
              <a:rPr b="1" sz="1000">
                <a:solidFill>
                  <a:srgbClr val="0F2B48"/>
                </a:solidFill>
              </a:rPr>
              <a:t>🎥 Zero Screen Clutter: </a:t>
            </a:r>
            <a:r>
              <a:rPr sz="950">
                <a:solidFill>
                  <a:srgbClr val="1E293B"/>
                </a:solidFill>
              </a:rPr>
              <a:t>GUI toolbar hidden by default to keep the view clean; ROS connection HUD fully visible.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9144000" cy="274320"/>
          </a:xfrm>
          <a:prstGeom prst="rect">
            <a:avLst/>
          </a:prstGeom>
          <a:noFill/>
        </p:spPr>
        <p:txBody>
          <a:bodyPr wrap="square" lIns="0" rIns="0" tIns="0" bIns="0">
            <a:spAutoFit/>
          </a:bodyPr>
          <a:lstStyle/>
          <a:p>
            <a:pPr>
              <a:defRPr sz="1000" b="1">
                <a:solidFill>
                  <a:srgbClr val="0284C7"/>
                </a:solidFill>
              </a:defRPr>
            </a:pPr>
            <a:r>
              <a:t>TECHNICAL DEFENSE</a:t>
            </a:r>
          </a:p>
        </p:txBody>
      </p:sp>
      <p:sp>
        <p:nvSpPr>
          <p:cNvPr id="3" name="TextBox 2"/>
          <p:cNvSpPr txBox="1"/>
          <p:nvPr/>
        </p:nvSpPr>
        <p:spPr>
          <a:xfrm>
            <a:off x="731520" y="621792"/>
            <a:ext cx="10515600" cy="548640"/>
          </a:xfrm>
          <a:prstGeom prst="rect">
            <a:avLst/>
          </a:prstGeom>
          <a:noFill/>
        </p:spPr>
        <p:txBody>
          <a:bodyPr wrap="square" lIns="0" rIns="0" tIns="0" bIns="0">
            <a:spAutoFit/>
          </a:bodyPr>
          <a:lstStyle/>
          <a:p>
            <a:pPr>
              <a:defRPr sz="2000" b="1">
                <a:solidFill>
                  <a:srgbClr val="0F2B48"/>
                </a:solidFill>
              </a:defRPr>
            </a:pPr>
            <a:r>
              <a:t>Engineering Questions for the Faculty Review</a:t>
            </a:r>
          </a:p>
        </p:txBody>
      </p:sp>
      <p:sp>
        <p:nvSpPr>
          <p:cNvPr id="4" name="Rectangle 3"/>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6309360"/>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82512"/>
            <a:ext cx="8686800" cy="274320"/>
          </a:xfrm>
          <a:prstGeom prst="rect">
            <a:avLst/>
          </a:prstGeom>
          <a:noFill/>
        </p:spPr>
        <p:txBody>
          <a:bodyPr wrap="none" lIns="0" rIns="0" tIns="0" bIns="0">
            <a:spAutoFit/>
          </a:bodyPr>
          <a:lstStyle/>
          <a:p>
            <a:pPr>
              <a:defRPr sz="900">
                <a:solidFill>
                  <a:srgbClr val="64748B"/>
                </a:solidFill>
              </a:defRPr>
            </a:pPr>
            <a:r>
              <a:t>UC8: Robotic Arm Conveyor Pick-and-Place with Obstacle Avoidance | VGU Robotic Project (Week 04)</a:t>
            </a:r>
          </a:p>
        </p:txBody>
      </p:sp>
      <p:sp>
        <p:nvSpPr>
          <p:cNvPr id="7" name="TextBox 6"/>
          <p:cNvSpPr txBox="1"/>
          <p:nvPr/>
        </p:nvSpPr>
        <p:spPr>
          <a:xfrm>
            <a:off x="10058400" y="6382512"/>
            <a:ext cx="1401775" cy="274320"/>
          </a:xfrm>
          <a:prstGeom prst="rect">
            <a:avLst/>
          </a:prstGeom>
          <a:noFill/>
        </p:spPr>
        <p:txBody>
          <a:bodyPr wrap="none" lIns="0" rIns="0" tIns="0" bIns="0">
            <a:spAutoFit/>
          </a:bodyPr>
          <a:lstStyle/>
          <a:p>
            <a:pPr algn="r">
              <a:defRPr sz="900" b="1">
                <a:solidFill>
                  <a:srgbClr val="0284C7"/>
                </a:solidFill>
              </a:defRPr>
            </a:pPr>
            <a:r>
              <a:t>Slide 12</a:t>
            </a:r>
          </a:p>
        </p:txBody>
      </p:sp>
      <p:sp>
        <p:nvSpPr>
          <p:cNvPr id="8" name="Rounded Rectangle 7"/>
          <p:cNvSpPr/>
          <p:nvPr/>
        </p:nvSpPr>
        <p:spPr>
          <a:xfrm>
            <a:off x="731520" y="1463040"/>
            <a:ext cx="10728655" cy="13716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572768"/>
            <a:ext cx="10332720" cy="1152144"/>
          </a:xfrm>
          <a:prstGeom prst="rect">
            <a:avLst/>
          </a:prstGeom>
          <a:noFill/>
        </p:spPr>
        <p:txBody>
          <a:bodyPr wrap="square">
            <a:spAutoFit/>
          </a:bodyPr>
          <a:lstStyle/>
          <a:p>
            <a:pPr>
              <a:spcAft>
                <a:spcPts val="400"/>
              </a:spcAft>
              <a:defRPr sz="1150" b="1">
                <a:solidFill>
                  <a:srgbClr val="0F2B48"/>
                </a:solidFill>
              </a:defRPr>
            </a:pPr>
            <a:r>
              <a:t>Q1: Why use pre-grasp and lift poses?</a:t>
            </a:r>
          </a:p>
          <a:p>
            <a:pPr>
              <a:defRPr sz="1000">
                <a:solidFill>
                  <a:srgbClr val="1E293B"/>
                </a:solidFill>
              </a:defRPr>
            </a:pPr>
            <a:r>
              <a:t>Defense: They separate free-space motion from the controlled vertical approach. Pre-grasp and Lift establish an imperative +15 cm vertical safety buffer that prevents diagonal approach collisions with conveyor guide rails and bin rims.</a:t>
            </a:r>
          </a:p>
        </p:txBody>
      </p:sp>
      <p:sp>
        <p:nvSpPr>
          <p:cNvPr id="10" name="Rounded Rectangle 9"/>
          <p:cNvSpPr/>
          <p:nvPr/>
        </p:nvSpPr>
        <p:spPr>
          <a:xfrm>
            <a:off x="731520" y="2971800"/>
            <a:ext cx="10728655" cy="13716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3081528"/>
            <a:ext cx="10332720" cy="1152144"/>
          </a:xfrm>
          <a:prstGeom prst="rect">
            <a:avLst/>
          </a:prstGeom>
          <a:noFill/>
        </p:spPr>
        <p:txBody>
          <a:bodyPr wrap="square">
            <a:spAutoFit/>
          </a:bodyPr>
          <a:lstStyle/>
          <a:p>
            <a:pPr>
              <a:spcAft>
                <a:spcPts val="400"/>
              </a:spcAft>
              <a:defRPr sz="1150" b="1">
                <a:solidFill>
                  <a:srgbClr val="0F2B48"/>
                </a:solidFill>
              </a:defRPr>
            </a:pPr>
            <a:r>
              <a:t>Q2: Why avoid fixed sleep delays?</a:t>
            </a:r>
          </a:p>
          <a:p>
            <a:pPr>
              <a:defRPr sz="1000">
                <a:solidFill>
                  <a:srgbClr val="1E293B"/>
                </a:solidFill>
              </a:defRPr>
            </a:pPr>
            <a:r>
              <a:t>Defense: Motion duration changes with each target (1.07 rad to Red Bin vs 2.78 rad to Blue Bin). Fixed sleep delays cause premature grasp triggers (missed grasps) or severe cycle latency. Trajectory completion feedback (wait=True) prevents early grasp or release commands.</a:t>
            </a:r>
          </a:p>
        </p:txBody>
      </p:sp>
      <p:sp>
        <p:nvSpPr>
          <p:cNvPr id="12" name="Rounded Rectangle 11"/>
          <p:cNvSpPr/>
          <p:nvPr/>
        </p:nvSpPr>
        <p:spPr>
          <a:xfrm>
            <a:off x="731520" y="4480560"/>
            <a:ext cx="10728655" cy="13716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4590288"/>
            <a:ext cx="10332720" cy="1152144"/>
          </a:xfrm>
          <a:prstGeom prst="rect">
            <a:avLst/>
          </a:prstGeom>
          <a:noFill/>
        </p:spPr>
        <p:txBody>
          <a:bodyPr wrap="square">
            <a:spAutoFit/>
          </a:bodyPr>
          <a:lstStyle/>
          <a:p>
            <a:pPr>
              <a:spcAft>
                <a:spcPts val="400"/>
              </a:spcAft>
              <a:defRPr sz="1150" b="1">
                <a:solidFill>
                  <a:srgbClr val="0F2B48"/>
                </a:solidFill>
              </a:defRPr>
            </a:pPr>
            <a:r>
              <a:t>Q3: How does Unity prevent arm sag and oscillation?</a:t>
            </a:r>
          </a:p>
          <a:p>
            <a:pPr>
              <a:defRPr sz="1000">
                <a:solidFill>
                  <a:srgbClr val="1E293B"/>
                </a:solidFill>
              </a:defRPr>
            </a:pPr>
            <a:r>
              <a:t>Defense: Triple stabilization approach: (1) The fixed base (immovable = true), (2) gravity compensation solved by MoveIt (useGravity = false), and (3) high ArticulationBody drive settings (stiffness = 50000, damping = 1000) keep the imported UR10e stable during motion.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9144000" cy="274320"/>
          </a:xfrm>
          <a:prstGeom prst="rect">
            <a:avLst/>
          </a:prstGeom>
          <a:noFill/>
        </p:spPr>
        <p:txBody>
          <a:bodyPr wrap="square" lIns="0" rIns="0" tIns="0" bIns="0">
            <a:spAutoFit/>
          </a:bodyPr>
          <a:lstStyle/>
          <a:p>
            <a:pPr>
              <a:defRPr sz="1000" b="1">
                <a:solidFill>
                  <a:srgbClr val="0284C7"/>
                </a:solidFill>
              </a:defRPr>
            </a:pPr>
            <a:r>
              <a:t>WEEK 05 PLAN AND MILESTONE 1</a:t>
            </a:r>
          </a:p>
        </p:txBody>
      </p:sp>
      <p:sp>
        <p:nvSpPr>
          <p:cNvPr id="3" name="TextBox 2"/>
          <p:cNvSpPr txBox="1"/>
          <p:nvPr/>
        </p:nvSpPr>
        <p:spPr>
          <a:xfrm>
            <a:off x="731520" y="621792"/>
            <a:ext cx="10515600" cy="548640"/>
          </a:xfrm>
          <a:prstGeom prst="rect">
            <a:avLst/>
          </a:prstGeom>
          <a:noFill/>
        </p:spPr>
        <p:txBody>
          <a:bodyPr wrap="square" lIns="0" rIns="0" tIns="0" bIns="0">
            <a:spAutoFit/>
          </a:bodyPr>
          <a:lstStyle/>
          <a:p>
            <a:pPr>
              <a:defRPr sz="2000" b="1">
                <a:solidFill>
                  <a:srgbClr val="0F2B48"/>
                </a:solidFill>
              </a:defRPr>
            </a:pPr>
            <a:r>
              <a:t>Stabilization, Evidence and Submission</a:t>
            </a:r>
          </a:p>
        </p:txBody>
      </p:sp>
      <p:sp>
        <p:nvSpPr>
          <p:cNvPr id="4" name="Rectangle 3"/>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6309360"/>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82512"/>
            <a:ext cx="8686800" cy="274320"/>
          </a:xfrm>
          <a:prstGeom prst="rect">
            <a:avLst/>
          </a:prstGeom>
          <a:noFill/>
        </p:spPr>
        <p:txBody>
          <a:bodyPr wrap="none" lIns="0" rIns="0" tIns="0" bIns="0">
            <a:spAutoFit/>
          </a:bodyPr>
          <a:lstStyle/>
          <a:p>
            <a:pPr>
              <a:defRPr sz="900">
                <a:solidFill>
                  <a:srgbClr val="64748B"/>
                </a:solidFill>
              </a:defRPr>
            </a:pPr>
            <a:r>
              <a:t>UC8: Robotic Arm Conveyor Pick-and-Place with Obstacle Avoidance | VGU Robotic Project (Week 04)</a:t>
            </a:r>
          </a:p>
        </p:txBody>
      </p:sp>
      <p:sp>
        <p:nvSpPr>
          <p:cNvPr id="7" name="TextBox 6"/>
          <p:cNvSpPr txBox="1"/>
          <p:nvPr/>
        </p:nvSpPr>
        <p:spPr>
          <a:xfrm>
            <a:off x="10058400" y="6382512"/>
            <a:ext cx="1401775" cy="274320"/>
          </a:xfrm>
          <a:prstGeom prst="rect">
            <a:avLst/>
          </a:prstGeom>
          <a:noFill/>
        </p:spPr>
        <p:txBody>
          <a:bodyPr wrap="none" lIns="0" rIns="0" tIns="0" bIns="0">
            <a:spAutoFit/>
          </a:bodyPr>
          <a:lstStyle/>
          <a:p>
            <a:pPr algn="r">
              <a:defRPr sz="900" b="1">
                <a:solidFill>
                  <a:srgbClr val="0284C7"/>
                </a:solidFill>
              </a:defRPr>
            </a:pPr>
            <a:r>
              <a:t>Slide 13</a:t>
            </a:r>
          </a:p>
        </p:txBody>
      </p:sp>
      <p:sp>
        <p:nvSpPr>
          <p:cNvPr id="8" name="Rounded Rectangle 7"/>
          <p:cNvSpPr/>
          <p:nvPr/>
        </p:nvSpPr>
        <p:spPr>
          <a:xfrm>
            <a:off x="731520" y="1463040"/>
            <a:ext cx="3413455" cy="36576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645920"/>
            <a:ext cx="3047695" cy="3291840"/>
          </a:xfrm>
          <a:prstGeom prst="rect">
            <a:avLst/>
          </a:prstGeom>
          <a:noFill/>
        </p:spPr>
        <p:txBody>
          <a:bodyPr wrap="square">
            <a:spAutoFit/>
          </a:bodyPr>
          <a:lstStyle/>
          <a:p>
            <a:pPr>
              <a:spcAft>
                <a:spcPts val="1200"/>
              </a:spcAft>
              <a:defRPr sz="1300" b="1">
                <a:solidFill>
                  <a:srgbClr val="D97706"/>
                </a:solidFill>
              </a:defRPr>
            </a:pPr>
            <a:r>
              <a:t>Stabilization</a:t>
            </a:r>
          </a:p>
          <a:p>
            <a:pPr>
              <a:spcAft>
                <a:spcPts val="600"/>
              </a:spcAft>
              <a:defRPr sz="1000">
                <a:solidFill>
                  <a:srgbClr val="1E293B"/>
                </a:solidFill>
              </a:defRPr>
            </a:pPr>
            <a:r>
              <a:t>• Timeout and exception handling</a:t>
            </a:r>
          </a:p>
          <a:p>
            <a:pPr>
              <a:spcAft>
                <a:spcPts val="600"/>
              </a:spcAft>
              <a:defRPr sz="1000">
                <a:solidFill>
                  <a:srgbClr val="1E293B"/>
                </a:solidFill>
              </a:defRPr>
            </a:pPr>
            <a:r>
              <a:t>• Motion boundary checks</a:t>
            </a:r>
          </a:p>
          <a:p>
            <a:pPr>
              <a:spcAft>
                <a:spcPts val="600"/>
              </a:spcAft>
              <a:defRPr sz="1000">
                <a:solidFill>
                  <a:srgbClr val="1E293B"/>
                </a:solidFill>
              </a:defRPr>
            </a:pPr>
            <a:r>
              <a:t>• Attachment reliability audit</a:t>
            </a:r>
          </a:p>
          <a:p>
            <a:pPr>
              <a:spcAft>
                <a:spcPts val="600"/>
              </a:spcAft>
              <a:defRPr sz="1000">
                <a:solidFill>
                  <a:srgbClr val="1E293B"/>
                </a:solidFill>
              </a:defRPr>
            </a:pPr>
            <a:r>
              <a:t>• 100+ cycle stress test run</a:t>
            </a:r>
          </a:p>
          <a:p>
            <a:pPr>
              <a:spcAft>
                <a:spcPts val="600"/>
              </a:spcAft>
              <a:defRPr sz="1000">
                <a:solidFill>
                  <a:srgbClr val="1E293B"/>
                </a:solidFill>
              </a:defRPr>
            </a:pPr>
            <a:r>
              <a:t>• Zero socket drop verification</a:t>
            </a:r>
          </a:p>
        </p:txBody>
      </p:sp>
      <p:sp>
        <p:nvSpPr>
          <p:cNvPr id="10" name="Rounded Rectangle 9"/>
          <p:cNvSpPr/>
          <p:nvPr/>
        </p:nvSpPr>
        <p:spPr>
          <a:xfrm>
            <a:off x="4389120" y="1463040"/>
            <a:ext cx="3413455" cy="36576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0" y="1645920"/>
            <a:ext cx="3047695" cy="3291840"/>
          </a:xfrm>
          <a:prstGeom prst="rect">
            <a:avLst/>
          </a:prstGeom>
          <a:noFill/>
        </p:spPr>
        <p:txBody>
          <a:bodyPr wrap="square">
            <a:spAutoFit/>
          </a:bodyPr>
          <a:lstStyle/>
          <a:p>
            <a:pPr>
              <a:spcAft>
                <a:spcPts val="1200"/>
              </a:spcAft>
              <a:defRPr sz="1300" b="1">
                <a:solidFill>
                  <a:srgbClr val="0F2B48"/>
                </a:solidFill>
              </a:defRPr>
            </a:pPr>
            <a:r>
              <a:t>Code and demo</a:t>
            </a:r>
          </a:p>
          <a:p>
            <a:pPr>
              <a:spcAft>
                <a:spcPts val="600"/>
              </a:spcAft>
              <a:defRPr sz="1000">
                <a:solidFill>
                  <a:srgbClr val="1E293B"/>
                </a:solidFill>
              </a:defRPr>
            </a:pPr>
            <a:r>
              <a:t>• Move constants to YAML config files</a:t>
            </a:r>
          </a:p>
          <a:p>
            <a:pPr>
              <a:spcAft>
                <a:spcPts val="600"/>
              </a:spcAft>
              <a:defRPr sz="1000">
                <a:solidFill>
                  <a:srgbClr val="1E293B"/>
                </a:solidFill>
              </a:defRPr>
            </a:pPr>
            <a:r>
              <a:t>• Polish launcher scripts (run_workcell.sh)</a:t>
            </a:r>
          </a:p>
          <a:p>
            <a:pPr>
              <a:spcAft>
                <a:spcPts val="600"/>
              </a:spcAft>
              <a:defRPr sz="1000">
                <a:solidFill>
                  <a:srgbClr val="1E293B"/>
                </a:solidFill>
              </a:defRPr>
            </a:pPr>
            <a:r>
              <a:t>• Finalize multi-camera view angles</a:t>
            </a:r>
          </a:p>
          <a:p>
            <a:pPr>
              <a:spcAft>
                <a:spcPts val="600"/>
              </a:spcAft>
              <a:defRPr sz="1000">
                <a:solidFill>
                  <a:srgbClr val="1E293B"/>
                </a:solidFill>
              </a:defRPr>
            </a:pPr>
            <a:r>
              <a:t>• Clean logs and code documentation</a:t>
            </a:r>
          </a:p>
          <a:p>
            <a:pPr>
              <a:spcAft>
                <a:spcPts val="600"/>
              </a:spcAft>
              <a:defRPr sz="1000">
                <a:solidFill>
                  <a:srgbClr val="1E293B"/>
                </a:solidFill>
              </a:defRPr>
            </a:pPr>
            <a:r>
              <a:t>• Audit error handling paths</a:t>
            </a:r>
          </a:p>
        </p:txBody>
      </p:sp>
      <p:sp>
        <p:nvSpPr>
          <p:cNvPr id="12" name="Rounded Rectangle 11"/>
          <p:cNvSpPr/>
          <p:nvPr/>
        </p:nvSpPr>
        <p:spPr>
          <a:xfrm>
            <a:off x="8046720" y="1463040"/>
            <a:ext cx="3413455" cy="36576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0" y="1645920"/>
            <a:ext cx="3047695" cy="3291840"/>
          </a:xfrm>
          <a:prstGeom prst="rect">
            <a:avLst/>
          </a:prstGeom>
          <a:noFill/>
        </p:spPr>
        <p:txBody>
          <a:bodyPr wrap="square">
            <a:spAutoFit/>
          </a:bodyPr>
          <a:lstStyle/>
          <a:p>
            <a:pPr>
              <a:spcAft>
                <a:spcPts val="1200"/>
              </a:spcAft>
              <a:defRPr sz="1300" b="1">
                <a:solidFill>
                  <a:srgbClr val="059669"/>
                </a:solidFill>
              </a:defRPr>
            </a:pPr>
            <a:r>
              <a:t>M1 package</a:t>
            </a:r>
          </a:p>
          <a:p>
            <a:pPr>
              <a:spcAft>
                <a:spcPts val="600"/>
              </a:spcAft>
              <a:defRPr sz="1000">
                <a:solidFill>
                  <a:srgbClr val="1E293B"/>
                </a:solidFill>
              </a:defRPr>
            </a:pPr>
            <a:r>
              <a:t>• Verified test logs (trials.csv)</a:t>
            </a:r>
          </a:p>
          <a:p>
            <a:pPr>
              <a:spcAft>
                <a:spcPts val="600"/>
              </a:spcAft>
              <a:defRPr sz="1000">
                <a:solidFill>
                  <a:srgbClr val="1E293B"/>
                </a:solidFill>
              </a:defRPr>
            </a:pPr>
            <a:r>
              <a:t>• Architecture and kinematics diagrams</a:t>
            </a:r>
          </a:p>
          <a:p>
            <a:pPr>
              <a:spcAft>
                <a:spcPts val="600"/>
              </a:spcAft>
              <a:defRPr sz="1000">
                <a:solidFill>
                  <a:srgbClr val="1E293B"/>
                </a:solidFill>
              </a:defRPr>
            </a:pPr>
            <a:r>
              <a:t>• README and setup reproduction guide</a:t>
            </a:r>
          </a:p>
          <a:p>
            <a:pPr>
              <a:spcAft>
                <a:spcPts val="600"/>
              </a:spcAft>
              <a:defRPr sz="1000">
                <a:solidFill>
                  <a:srgbClr val="1E293B"/>
                </a:solidFill>
              </a:defRPr>
            </a:pPr>
            <a:r>
              <a:t>• Tagged source release (git tag m1-verified)</a:t>
            </a:r>
          </a:p>
          <a:p>
            <a:pPr>
              <a:spcAft>
                <a:spcPts val="600"/>
              </a:spcAft>
              <a:defRPr sz="1000">
                <a:solidFill>
                  <a:srgbClr val="1E293B"/>
                </a:solidFill>
              </a:defRPr>
            </a:pPr>
            <a:r>
              <a:t>• Multi-camera demonstration video</a:t>
            </a:r>
          </a:p>
        </p:txBody>
      </p:sp>
      <p:sp>
        <p:nvSpPr>
          <p:cNvPr id="14" name="Rounded Rectangle 13"/>
          <p:cNvSpPr/>
          <p:nvPr/>
        </p:nvSpPr>
        <p:spPr>
          <a:xfrm>
            <a:off x="731520" y="5303520"/>
            <a:ext cx="10728655" cy="868680"/>
          </a:xfrm>
          <a:prstGeom prst="roundRect">
            <a:avLst/>
          </a:prstGeom>
          <a:solidFill>
            <a:srgbClr val="FEF3C7"/>
          </a:solidFill>
          <a:ln w="19050">
            <a:solidFill>
              <a:srgbClr val="FCD3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5376672"/>
            <a:ext cx="10362895" cy="731520"/>
          </a:xfrm>
          <a:prstGeom prst="rect">
            <a:avLst/>
          </a:prstGeom>
          <a:noFill/>
        </p:spPr>
        <p:txBody>
          <a:bodyPr wrap="square">
            <a:spAutoFit/>
          </a:bodyPr>
          <a:lstStyle/>
          <a:p>
            <a:pPr>
              <a:spcAft>
                <a:spcPts val="300"/>
              </a:spcAft>
              <a:defRPr sz="1100" b="1">
                <a:solidFill>
                  <a:srgbClr val="0F2B48"/>
                </a:solidFill>
              </a:defRPr>
            </a:pPr>
            <a:r>
              <a:t>MILESTONE 1 READINESS CRITERIA</a:t>
            </a:r>
          </a:p>
          <a:p>
            <a:pPr>
              <a:defRPr sz="950">
                <a:solidFill>
                  <a:srgbClr val="1E293B"/>
                </a:solidFill>
              </a:defRPr>
            </a:pPr>
            <a:r>
              <a:t>• The system runs complete cycles autonomously, reproduces directly from README, and supports every performance claim with verified log evidence.</a:t>
            </a:r>
            <a:br/>
            <a:r>
              <a:t>• Formal Milestone 1 evaluation and live committee defense scheduled for Week 05.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